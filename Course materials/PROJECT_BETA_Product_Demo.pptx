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to open: most 'AI trading bots' let a language model pick the trades. This one does the opposite — the strategy is a fixed, readable rule, and the AI's job is to decide when NOT to trust it, and to explain itself. It runs on a paper account: real market conditions, zero financial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point that lands with outsiders is the second card: not 'the AI is smarter', but 'you can check what it did afterwards'. That's the gap this project actually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The amber box is the only AI stage in the trading path — that's deliberate, and it's the whole design argument. The quote on the right is generated from the logged record, so every number in it can be checked against what the system actually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'so does it make money?' — this bottom line is the answer. The project is judged on whether the evaluation is honest, not on returns. Saying that up front tends to earn credibility rather than 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bars aren't results — they're the experiment design. Say that plainly so nobody reads them as performance. The second metric ('can a person follow it') is the one people underestimate: it's tested with three readers who have never seen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disclaimer line — it's a real design constraint, not legal boilerplate: there is no live-money code path in the system, and a test enforces that. If asked 'could you run it for real?' the honest answer is that it would take a deliberate change, and that's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4"/>
        </a:solidFill>
      </p:bgPr>
    </p:bg>
    <p:spTree>
      <p:nvGrpSpPr>
        <p:cNvPr id="1" name=""/>
        <p:cNvGrpSpPr/>
        <p:nvPr/>
      </p:nvGrpSpPr>
      <p:grpSpPr>
        <a:xfrm>
          <a:off x="0" y="0"/>
          <a:ext cx="0" cy="0"/>
          <a:chOff x="0" y="0"/>
          <a:chExt cx="0" cy="0"/>
        </a:xfrm>
      </p:grpSpPr>
      <p:sp>
        <p:nvSpPr>
          <p:cNvPr id="2" name="Shape 0"/>
          <p:cNvSpPr/>
          <p:nvPr/>
        </p:nvSpPr>
        <p:spPr>
          <a:xfrm>
            <a:off x="7635240" y="685800"/>
            <a:ext cx="1920240" cy="1920240"/>
          </a:xfrm>
          <a:prstGeom prst="ellipse">
            <a:avLst/>
          </a:prstGeom>
          <a:solidFill>
            <a:srgbClr val="1E2761">
              <a:alpha val="65000"/>
            </a:srgbClr>
          </a:solidFill>
          <a:ln/>
        </p:spPr>
      </p:sp>
      <p:sp>
        <p:nvSpPr>
          <p:cNvPr id="3" name="Shape 1"/>
          <p:cNvSpPr/>
          <p:nvPr/>
        </p:nvSpPr>
        <p:spPr>
          <a:xfrm>
            <a:off x="6903720" y="2331720"/>
            <a:ext cx="1143000" cy="1143000"/>
          </a:xfrm>
          <a:prstGeom prst="ellipse">
            <a:avLst/>
          </a:prstGeom>
          <a:solidFill>
            <a:srgbClr val="1E2761">
              <a:alpha val="65000"/>
            </a:srgbClr>
          </a:solidFill>
          <a:ln/>
        </p:spPr>
      </p:sp>
      <p:sp>
        <p:nvSpPr>
          <p:cNvPr id="4" name="Shape 2"/>
          <p:cNvSpPr/>
          <p:nvPr/>
        </p:nvSpPr>
        <p:spPr>
          <a:xfrm>
            <a:off x="8275320" y="3246120"/>
            <a:ext cx="640080" cy="640080"/>
          </a:xfrm>
          <a:prstGeom prst="ellipse">
            <a:avLst/>
          </a:prstGeom>
          <a:solidFill>
            <a:srgbClr val="1E2761">
              <a:alpha val="65000"/>
            </a:srgbClr>
          </a:solidFill>
          <a:ln/>
        </p:spPr>
      </p:sp>
      <p:sp>
        <p:nvSpPr>
          <p:cNvPr id="5" name="Shape 3"/>
          <p:cNvSpPr/>
          <p:nvPr/>
        </p:nvSpPr>
        <p:spPr>
          <a:xfrm>
            <a:off x="7360920" y="1874520"/>
            <a:ext cx="548640" cy="548640"/>
          </a:xfrm>
          <a:prstGeom prst="ellipse">
            <a:avLst/>
          </a:prstGeom>
          <a:solidFill>
            <a:srgbClr val="F2A03D"/>
          </a:solidFill>
          <a:ln/>
        </p:spPr>
      </p:sp>
      <p:sp>
        <p:nvSpPr>
          <p:cNvPr id="6" name="Text 4"/>
          <p:cNvSpPr txBox="1"/>
          <p:nvPr/>
        </p:nvSpPr>
        <p:spPr>
          <a:xfrm>
            <a:off x="548640" y="457200"/>
            <a:ext cx="5943600" cy="274320"/>
          </a:xfrm>
          <a:prstGeom prst="rect">
            <a:avLst/>
          </a:prstGeom>
          <a:noFill/>
          <a:ln/>
        </p:spPr>
        <p:txBody>
          <a:bodyPr wrap="square" lIns="0" tIns="0" rIns="0" bIns="0" rtlCol="0" anchor="ctr"/>
          <a:lstStyle/>
          <a:p>
            <a:pPr indent="0" marL="0">
              <a:buNone/>
            </a:pPr>
            <a:r>
              <a:rPr lang="en-US" sz="1100" b="1" spc="200" kern="0" dirty="0">
                <a:solidFill>
                  <a:srgbClr val="F2A03D"/>
                </a:solidFill>
                <a:latin typeface="Calibri" pitchFamily="34" charset="0"/>
                <a:ea typeface="Calibri" pitchFamily="34" charset="-122"/>
                <a:cs typeface="Calibri" pitchFamily="34" charset="-120"/>
              </a:rPr>
              <a:t>AI CAPSTONE  ·  CIS 5980  ·  FALL 2026</a:t>
            </a:r>
            <a:endParaRPr lang="en-US" sz="1100" dirty="0"/>
          </a:p>
        </p:txBody>
      </p:sp>
      <p:sp>
        <p:nvSpPr>
          <p:cNvPr id="7" name="Text 5"/>
          <p:cNvSpPr txBox="1"/>
          <p:nvPr/>
        </p:nvSpPr>
        <p:spPr>
          <a:xfrm>
            <a:off x="548640" y="1234440"/>
            <a:ext cx="640080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PROJECT BETA</a:t>
            </a:r>
            <a:endParaRPr lang="en-US" sz="4400" dirty="0"/>
          </a:p>
        </p:txBody>
      </p:sp>
      <p:sp>
        <p:nvSpPr>
          <p:cNvPr id="8" name="Text 6"/>
          <p:cNvSpPr txBox="1"/>
          <p:nvPr/>
        </p:nvSpPr>
        <p:spPr>
          <a:xfrm>
            <a:off x="548640" y="2057400"/>
            <a:ext cx="6400800" cy="457200"/>
          </a:xfrm>
          <a:prstGeom prst="rect">
            <a:avLst/>
          </a:prstGeom>
          <a:noFill/>
          <a:ln/>
        </p:spPr>
        <p:txBody>
          <a:bodyPr wrap="square" lIns="0" tIns="0" rIns="0" bIns="0" rtlCol="0" anchor="ctr"/>
          <a:lstStyle/>
          <a:p>
            <a:pPr indent="0" marL="0">
              <a:buNone/>
            </a:pPr>
            <a:r>
              <a:rPr lang="en-US" sz="2100" i="1" dirty="0">
                <a:solidFill>
                  <a:srgbClr val="CADCFC"/>
                </a:solidFill>
                <a:latin typeface="Cambria" pitchFamily="34" charset="0"/>
                <a:ea typeface="Cambria" pitchFamily="34" charset="-122"/>
                <a:cs typeface="Cambria" pitchFamily="34" charset="-120"/>
              </a:rPr>
              <a:t>Trading signals you can actually audit</a:t>
            </a:r>
            <a:endParaRPr lang="en-US" sz="2100" dirty="0"/>
          </a:p>
        </p:txBody>
      </p:sp>
      <p:sp>
        <p:nvSpPr>
          <p:cNvPr id="9" name="Text 7"/>
          <p:cNvSpPr txBox="1"/>
          <p:nvPr/>
        </p:nvSpPr>
        <p:spPr>
          <a:xfrm>
            <a:off x="548640" y="2743200"/>
            <a:ext cx="6035040" cy="914400"/>
          </a:xfrm>
          <a:prstGeom prst="rect">
            <a:avLst/>
          </a:prstGeom>
          <a:noFill/>
          <a:ln/>
        </p:spPr>
        <p:txBody>
          <a:bodyPr wrap="square" lIns="0" tIns="0" rIns="0" bIns="0" rtlCol="0" anchor="ctr"/>
          <a:lstStyle/>
          <a:p>
            <a:pPr indent="0" marL="0">
              <a:lnSpc>
                <a:spcPts val="2100"/>
              </a:lnSpc>
              <a:buNone/>
            </a:pPr>
            <a:r>
              <a:rPr lang="en-US" sz="1400" dirty="0">
                <a:solidFill>
                  <a:srgbClr val="CADCFC"/>
                </a:solidFill>
                <a:latin typeface="Calibri" pitchFamily="34" charset="0"/>
                <a:ea typeface="Calibri" pitchFamily="34" charset="-122"/>
                <a:cs typeface="Calibri" pitchFamily="34" charset="-120"/>
              </a:rPr>
              <a:t>An AI-assisted paper-trading system that filters a transparent, rule-based strategy — and gives a plain-English, checkable reason for every trade it takes or refuses.</a:t>
            </a:r>
            <a:endParaRPr lang="en-US" sz="1400" dirty="0"/>
          </a:p>
        </p:txBody>
      </p:sp>
      <p:sp>
        <p:nvSpPr>
          <p:cNvPr id="10" name="Text 8"/>
          <p:cNvSpPr txBox="1"/>
          <p:nvPr/>
        </p:nvSpPr>
        <p:spPr>
          <a:xfrm>
            <a:off x="548640" y="4251960"/>
            <a:ext cx="7315200" cy="274320"/>
          </a:xfrm>
          <a:prstGeom prst="rect">
            <a:avLst/>
          </a:prstGeom>
          <a:noFill/>
          <a:ln/>
        </p:spPr>
        <p:txBody>
          <a:bodyPr wrap="square" lIns="0" tIns="0" rIns="0" bIns="0" rtlCol="0" anchor="ctr"/>
          <a:lstStyle/>
          <a:p>
            <a:pPr indent="0" marL="0">
              <a:buNone/>
            </a:pPr>
            <a:r>
              <a:rPr lang="en-US" sz="1100" dirty="0">
                <a:solidFill>
                  <a:srgbClr val="8A94A6"/>
                </a:solidFill>
                <a:latin typeface="Calibri" pitchFamily="34" charset="0"/>
                <a:ea typeface="Calibri" pitchFamily="34" charset="-122"/>
                <a:cs typeface="Calibri" pitchFamily="34" charset="-120"/>
              </a:rPr>
              <a:t>Henry Dao  ·  Solo capstone  ·  Paper trading only, no real money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54864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The problem</a:t>
            </a:r>
            <a:endParaRPr lang="en-US" sz="3800" dirty="0"/>
          </a:p>
        </p:txBody>
      </p:sp>
      <p:sp>
        <p:nvSpPr>
          <p:cNvPr id="3" name="Text 1"/>
          <p:cNvSpPr txBox="1"/>
          <p:nvPr/>
        </p:nvSpPr>
        <p:spPr>
          <a:xfrm>
            <a:off x="548640" y="1143000"/>
            <a:ext cx="3657600" cy="1097280"/>
          </a:xfrm>
          <a:prstGeom prst="rect">
            <a:avLst/>
          </a:prstGeom>
          <a:noFill/>
          <a:ln/>
        </p:spPr>
        <p:txBody>
          <a:bodyPr wrap="square" lIns="0" tIns="0" rIns="0" bIns="0" rtlCol="0" anchor="ctr"/>
          <a:lstStyle/>
          <a:p>
            <a:pPr indent="0" marL="0">
              <a:lnSpc>
                <a:spcPts val="2400"/>
              </a:lnSpc>
              <a:buNone/>
            </a:pPr>
            <a:r>
              <a:rPr lang="en-US" sz="1600" dirty="0">
                <a:solidFill>
                  <a:srgbClr val="3A4357"/>
                </a:solidFill>
                <a:latin typeface="Calibri" pitchFamily="34" charset="0"/>
                <a:ea typeface="Calibri" pitchFamily="34" charset="-122"/>
                <a:cs typeface="Calibri" pitchFamily="34" charset="-120"/>
              </a:rPr>
              <a:t>People act on trading signals they can't fully trust — and when a trade goes wrong, there's no way to reconstruct why it was taken.</a:t>
            </a:r>
            <a:endParaRPr lang="en-US" sz="1600" dirty="0"/>
          </a:p>
        </p:txBody>
      </p:sp>
      <p:sp>
        <p:nvSpPr>
          <p:cNvPr id="4" name="Shape 2"/>
          <p:cNvSpPr/>
          <p:nvPr/>
        </p:nvSpPr>
        <p:spPr>
          <a:xfrm>
            <a:off x="548640" y="3200400"/>
            <a:ext cx="3657600" cy="1188720"/>
          </a:xfrm>
          <a:prstGeom prst="roundRect">
            <a:avLst>
              <a:gd name="adj" fmla="val 6154"/>
            </a:avLst>
          </a:prstGeom>
          <a:solidFill>
            <a:srgbClr val="F1F5FB"/>
          </a:solidFill>
          <a:ln/>
        </p:spPr>
      </p:sp>
      <p:sp>
        <p:nvSpPr>
          <p:cNvPr id="5" name="Text 3"/>
          <p:cNvSpPr txBox="1"/>
          <p:nvPr/>
        </p:nvSpPr>
        <p:spPr>
          <a:xfrm>
            <a:off x="777240" y="3364992"/>
            <a:ext cx="3200400" cy="274320"/>
          </a:xfrm>
          <a:prstGeom prst="rect">
            <a:avLst/>
          </a:prstGeom>
          <a:noFill/>
          <a:ln/>
        </p:spPr>
        <p:txBody>
          <a:bodyPr wrap="square" lIns="0" tIns="0" rIns="0" bIns="0" rtlCol="0" anchor="ctr"/>
          <a:lstStyle/>
          <a:p>
            <a:pPr indent="0" marL="0">
              <a:buNone/>
            </a:pPr>
            <a:r>
              <a:rPr lang="en-US" sz="1200" b="1" spc="100" kern="0" dirty="0">
                <a:solidFill>
                  <a:srgbClr val="1E2761"/>
                </a:solidFill>
                <a:latin typeface="Calibri" pitchFamily="34" charset="0"/>
                <a:ea typeface="Calibri" pitchFamily="34" charset="-122"/>
                <a:cs typeface="Calibri" pitchFamily="34" charset="-120"/>
              </a:rPr>
              <a:t>Who it's for</a:t>
            </a:r>
            <a:endParaRPr lang="en-US" sz="1200" dirty="0"/>
          </a:p>
        </p:txBody>
      </p:sp>
      <p:sp>
        <p:nvSpPr>
          <p:cNvPr id="6" name="Text 4"/>
          <p:cNvSpPr txBox="1"/>
          <p:nvPr/>
        </p:nvSpPr>
        <p:spPr>
          <a:xfrm>
            <a:off x="777240" y="3657600"/>
            <a:ext cx="3200400" cy="640080"/>
          </a:xfrm>
          <a:prstGeom prst="rect">
            <a:avLst/>
          </a:prstGeom>
          <a:noFill/>
          <a:ln/>
        </p:spPr>
        <p:txBody>
          <a:bodyPr wrap="square" lIns="0" tIns="0" rIns="0" bIns="0" rtlCol="0" anchor="ctr"/>
          <a:lstStyle/>
          <a:p>
            <a:pPr indent="0" marL="0">
              <a:lnSpc>
                <a:spcPts val="1700"/>
              </a:lnSpc>
              <a:buNone/>
            </a:pPr>
            <a:r>
              <a:rPr lang="en-US" sz="1250" dirty="0">
                <a:solidFill>
                  <a:srgbClr val="3A4357"/>
                </a:solidFill>
                <a:latin typeface="Calibri" pitchFamily="34" charset="0"/>
                <a:ea typeface="Calibri" pitchFamily="34" charset="-122"/>
                <a:cs typeface="Calibri" pitchFamily="34" charset="-120"/>
              </a:rPr>
              <a:t>Discretionary retail traders and junior quantitative researchers who want systematic, explainable filtering — not another black box.</a:t>
            </a:r>
            <a:endParaRPr lang="en-US" sz="1250" dirty="0"/>
          </a:p>
        </p:txBody>
      </p:sp>
      <p:sp>
        <p:nvSpPr>
          <p:cNvPr id="7" name="Shape 5"/>
          <p:cNvSpPr/>
          <p:nvPr/>
        </p:nvSpPr>
        <p:spPr>
          <a:xfrm>
            <a:off x="4663440" y="1097280"/>
            <a:ext cx="3931920" cy="960120"/>
          </a:xfrm>
          <a:prstGeom prst="roundRect">
            <a:avLst>
              <a:gd name="adj" fmla="val 7619"/>
            </a:avLst>
          </a:prstGeom>
          <a:solidFill>
            <a:srgbClr val="F1F5FB"/>
          </a:solidFill>
          <a:ln/>
        </p:spPr>
      </p:sp>
      <p:sp>
        <p:nvSpPr>
          <p:cNvPr id="8" name="Shape 6"/>
          <p:cNvSpPr/>
          <p:nvPr/>
        </p:nvSpPr>
        <p:spPr>
          <a:xfrm>
            <a:off x="4864608" y="1389888"/>
            <a:ext cx="365760" cy="365760"/>
          </a:xfrm>
          <a:prstGeom prst="ellipse">
            <a:avLst/>
          </a:prstGeom>
          <a:solidFill>
            <a:srgbClr val="1E2761"/>
          </a:solidFill>
          <a:ln/>
        </p:spPr>
      </p:sp>
      <p:sp>
        <p:nvSpPr>
          <p:cNvPr id="9" name="Text 7"/>
          <p:cNvSpPr txBox="1"/>
          <p:nvPr/>
        </p:nvSpPr>
        <p:spPr>
          <a:xfrm>
            <a:off x="4864608" y="1389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5394960" y="1234440"/>
            <a:ext cx="3017520"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Noisy signals</a:t>
            </a:r>
            <a:endParaRPr lang="en-US" sz="1500" dirty="0"/>
          </a:p>
        </p:txBody>
      </p:sp>
      <p:sp>
        <p:nvSpPr>
          <p:cNvPr id="11" name="Text 9"/>
          <p:cNvSpPr txBox="1"/>
          <p:nvPr/>
        </p:nvSpPr>
        <p:spPr>
          <a:xfrm>
            <a:off x="5394960" y="1517904"/>
            <a:ext cx="3063240" cy="457200"/>
          </a:xfrm>
          <a:prstGeom prst="rect">
            <a:avLst/>
          </a:prstGeom>
          <a:noFill/>
          <a:ln/>
        </p:spPr>
        <p:txBody>
          <a:bodyPr wrap="square" lIns="0" tIns="0" rIns="0" bIns="0" rtlCol="0" anchor="ctr"/>
          <a:lstStyle/>
          <a:p>
            <a:pPr indent="0" marL="0">
              <a:lnSpc>
                <a:spcPts val="1500"/>
              </a:lnSpc>
              <a:buNone/>
            </a:pPr>
            <a:r>
              <a:rPr lang="en-US" sz="1150" dirty="0">
                <a:solidFill>
                  <a:srgbClr val="3A4357"/>
                </a:solidFill>
                <a:latin typeface="Calibri" pitchFamily="34" charset="0"/>
                <a:ea typeface="Calibri" pitchFamily="34" charset="-122"/>
                <a:cs typeface="Calibri" pitchFamily="34" charset="-120"/>
              </a:rPr>
              <a:t>A rule that works on average still fires in conditions where it reliably loses.</a:t>
            </a:r>
            <a:endParaRPr lang="en-US" sz="1150" dirty="0"/>
          </a:p>
        </p:txBody>
      </p:sp>
      <p:sp>
        <p:nvSpPr>
          <p:cNvPr id="12" name="Shape 10"/>
          <p:cNvSpPr/>
          <p:nvPr/>
        </p:nvSpPr>
        <p:spPr>
          <a:xfrm>
            <a:off x="4663440" y="2240280"/>
            <a:ext cx="3931920" cy="960120"/>
          </a:xfrm>
          <a:prstGeom prst="roundRect">
            <a:avLst>
              <a:gd name="adj" fmla="val 7619"/>
            </a:avLst>
          </a:prstGeom>
          <a:solidFill>
            <a:srgbClr val="F1F5FB"/>
          </a:solidFill>
          <a:ln/>
        </p:spPr>
      </p:sp>
      <p:sp>
        <p:nvSpPr>
          <p:cNvPr id="13" name="Shape 11"/>
          <p:cNvSpPr/>
          <p:nvPr/>
        </p:nvSpPr>
        <p:spPr>
          <a:xfrm>
            <a:off x="4864608" y="2532888"/>
            <a:ext cx="365760" cy="365760"/>
          </a:xfrm>
          <a:prstGeom prst="ellipse">
            <a:avLst/>
          </a:prstGeom>
          <a:solidFill>
            <a:srgbClr val="1E2761"/>
          </a:solidFill>
          <a:ln/>
        </p:spPr>
      </p:sp>
      <p:sp>
        <p:nvSpPr>
          <p:cNvPr id="14" name="Text 12"/>
          <p:cNvSpPr txBox="1"/>
          <p:nvPr/>
        </p:nvSpPr>
        <p:spPr>
          <a:xfrm>
            <a:off x="4864608" y="2532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5394960" y="2377440"/>
            <a:ext cx="3017520"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No audit trail</a:t>
            </a:r>
            <a:endParaRPr lang="en-US" sz="1500" dirty="0"/>
          </a:p>
        </p:txBody>
      </p:sp>
      <p:sp>
        <p:nvSpPr>
          <p:cNvPr id="16" name="Text 14"/>
          <p:cNvSpPr txBox="1"/>
          <p:nvPr/>
        </p:nvSpPr>
        <p:spPr>
          <a:xfrm>
            <a:off x="5394960" y="2660904"/>
            <a:ext cx="3063240" cy="457200"/>
          </a:xfrm>
          <a:prstGeom prst="rect">
            <a:avLst/>
          </a:prstGeom>
          <a:noFill/>
          <a:ln/>
        </p:spPr>
        <p:txBody>
          <a:bodyPr wrap="square" lIns="0" tIns="0" rIns="0" bIns="0" rtlCol="0" anchor="ctr"/>
          <a:lstStyle/>
          <a:p>
            <a:pPr indent="0" marL="0">
              <a:lnSpc>
                <a:spcPts val="1500"/>
              </a:lnSpc>
              <a:buNone/>
            </a:pPr>
            <a:r>
              <a:rPr lang="en-US" sz="1150" dirty="0">
                <a:solidFill>
                  <a:srgbClr val="3A4357"/>
                </a:solidFill>
                <a:latin typeface="Calibri" pitchFamily="34" charset="0"/>
                <a:ea typeface="Calibri" pitchFamily="34" charset="-122"/>
                <a:cs typeface="Calibri" pitchFamily="34" charset="-120"/>
              </a:rPr>
              <a:t>After a bad trade, nothing records what the system believed at the time.</a:t>
            </a:r>
            <a:endParaRPr lang="en-US" sz="1150" dirty="0"/>
          </a:p>
        </p:txBody>
      </p:sp>
      <p:sp>
        <p:nvSpPr>
          <p:cNvPr id="17" name="Shape 15"/>
          <p:cNvSpPr/>
          <p:nvPr/>
        </p:nvSpPr>
        <p:spPr>
          <a:xfrm>
            <a:off x="4663440" y="3383280"/>
            <a:ext cx="3931920" cy="960120"/>
          </a:xfrm>
          <a:prstGeom prst="roundRect">
            <a:avLst>
              <a:gd name="adj" fmla="val 7619"/>
            </a:avLst>
          </a:prstGeom>
          <a:solidFill>
            <a:srgbClr val="F1F5FB"/>
          </a:solidFill>
          <a:ln/>
        </p:spPr>
      </p:sp>
      <p:sp>
        <p:nvSpPr>
          <p:cNvPr id="18" name="Shape 16"/>
          <p:cNvSpPr/>
          <p:nvPr/>
        </p:nvSpPr>
        <p:spPr>
          <a:xfrm>
            <a:off x="4864608" y="3675888"/>
            <a:ext cx="365760" cy="365760"/>
          </a:xfrm>
          <a:prstGeom prst="ellipse">
            <a:avLst/>
          </a:prstGeom>
          <a:solidFill>
            <a:srgbClr val="1E2761"/>
          </a:solidFill>
          <a:ln/>
        </p:spPr>
      </p:sp>
      <p:sp>
        <p:nvSpPr>
          <p:cNvPr id="19" name="Text 17"/>
          <p:cNvSpPr txBox="1"/>
          <p:nvPr/>
        </p:nvSpPr>
        <p:spPr>
          <a:xfrm>
            <a:off x="4864608" y="3675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5394960" y="3520440"/>
            <a:ext cx="3017520" cy="27432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Black-box tools</a:t>
            </a:r>
            <a:endParaRPr lang="en-US" sz="1500" dirty="0"/>
          </a:p>
        </p:txBody>
      </p:sp>
      <p:sp>
        <p:nvSpPr>
          <p:cNvPr id="21" name="Text 19"/>
          <p:cNvSpPr txBox="1"/>
          <p:nvPr/>
        </p:nvSpPr>
        <p:spPr>
          <a:xfrm>
            <a:off x="5394960" y="3803904"/>
            <a:ext cx="3063240" cy="457200"/>
          </a:xfrm>
          <a:prstGeom prst="rect">
            <a:avLst/>
          </a:prstGeom>
          <a:noFill/>
          <a:ln/>
        </p:spPr>
        <p:txBody>
          <a:bodyPr wrap="square" lIns="0" tIns="0" rIns="0" bIns="0" rtlCol="0" anchor="ctr"/>
          <a:lstStyle/>
          <a:p>
            <a:pPr indent="0" marL="0">
              <a:lnSpc>
                <a:spcPts val="1500"/>
              </a:lnSpc>
              <a:buNone/>
            </a:pPr>
            <a:r>
              <a:rPr lang="en-US" sz="1150" dirty="0">
                <a:solidFill>
                  <a:srgbClr val="3A4357"/>
                </a:solidFill>
                <a:latin typeface="Calibri" pitchFamily="34" charset="0"/>
                <a:ea typeface="Calibri" pitchFamily="34" charset="-122"/>
                <a:cs typeface="Calibri" pitchFamily="34" charset="-120"/>
              </a:rPr>
              <a:t>The products that do use AI won't tell you what drove the call.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5486400" cy="54864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How it works</a:t>
            </a:r>
            <a:endParaRPr lang="en-US" sz="3800" dirty="0"/>
          </a:p>
        </p:txBody>
      </p:sp>
      <p:sp>
        <p:nvSpPr>
          <p:cNvPr id="3" name="Text 1"/>
          <p:cNvSpPr txBox="1"/>
          <p:nvPr/>
        </p:nvSpPr>
        <p:spPr>
          <a:xfrm>
            <a:off x="548640" y="932688"/>
            <a:ext cx="8046720" cy="274320"/>
          </a:xfrm>
          <a:prstGeom prst="rect">
            <a:avLst/>
          </a:prstGeom>
          <a:noFill/>
          <a:ln/>
        </p:spPr>
        <p:txBody>
          <a:bodyPr wrap="square" lIns="0" tIns="0" rIns="0" bIns="0" rtlCol="0" anchor="ctr"/>
          <a:lstStyle/>
          <a:p>
            <a:pPr indent="0" marL="0">
              <a:buNone/>
            </a:pPr>
            <a:r>
              <a:rPr lang="en-US" sz="1400" dirty="0">
                <a:solidFill>
                  <a:srgbClr val="3A4357"/>
                </a:solidFill>
                <a:latin typeface="Calibri" pitchFamily="34" charset="0"/>
                <a:ea typeface="Calibri" pitchFamily="34" charset="-122"/>
                <a:cs typeface="Calibri" pitchFamily="34" charset="-120"/>
              </a:rPr>
              <a:t>Every trade passes through five stages. Only one of them is AI.</a:t>
            </a:r>
            <a:endParaRPr lang="en-US" sz="1400" dirty="0"/>
          </a:p>
        </p:txBody>
      </p:sp>
      <p:sp>
        <p:nvSpPr>
          <p:cNvPr id="4" name="Shape 2"/>
          <p:cNvSpPr/>
          <p:nvPr/>
        </p:nvSpPr>
        <p:spPr>
          <a:xfrm>
            <a:off x="548640" y="1463040"/>
            <a:ext cx="1481328" cy="1371600"/>
          </a:xfrm>
          <a:prstGeom prst="roundRect">
            <a:avLst>
              <a:gd name="adj" fmla="val 5333"/>
            </a:avLst>
          </a:prstGeom>
          <a:solidFill>
            <a:srgbClr val="F1F5FB"/>
          </a:solidFill>
          <a:ln/>
        </p:spPr>
      </p:sp>
      <p:sp>
        <p:nvSpPr>
          <p:cNvPr id="5" name="Text 3"/>
          <p:cNvSpPr txBox="1"/>
          <p:nvPr/>
        </p:nvSpPr>
        <p:spPr>
          <a:xfrm>
            <a:off x="640080" y="1600200"/>
            <a:ext cx="1298448"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Market data</a:t>
            </a:r>
            <a:endParaRPr lang="en-US" sz="1300" dirty="0"/>
          </a:p>
        </p:txBody>
      </p:sp>
      <p:sp>
        <p:nvSpPr>
          <p:cNvPr id="6" name="Text 4"/>
          <p:cNvSpPr txBox="1"/>
          <p:nvPr/>
        </p:nvSpPr>
        <p:spPr>
          <a:xfrm>
            <a:off x="640080" y="2121408"/>
            <a:ext cx="1298448" cy="594360"/>
          </a:xfrm>
          <a:prstGeom prst="rect">
            <a:avLst/>
          </a:prstGeom>
          <a:noFill/>
          <a:ln/>
        </p:spPr>
        <p:txBody>
          <a:bodyPr wrap="square" lIns="0" tIns="0" rIns="0" bIns="0" rtlCol="0" anchor="ctr"/>
          <a:lstStyle/>
          <a:p>
            <a:pPr algn="ctr" indent="0" marL="0">
              <a:lnSpc>
                <a:spcPts val="1400"/>
              </a:lnSpc>
              <a:buNone/>
            </a:pPr>
            <a:r>
              <a:rPr lang="en-US" sz="1050" dirty="0">
                <a:solidFill>
                  <a:srgbClr val="3A4357"/>
                </a:solidFill>
                <a:latin typeface="Calibri" pitchFamily="34" charset="0"/>
                <a:ea typeface="Calibri" pitchFamily="34" charset="-122"/>
                <a:cs typeface="Calibri" pitchFamily="34" charset="-120"/>
              </a:rPr>
              <a:t>SPY price bars,</a:t>
            </a:r>
            <a:endParaRPr lang="en-US" sz="1050" dirty="0"/>
          </a:p>
          <a:p>
            <a:pPr algn="ctr" indent="0" marL="0">
              <a:lnSpc>
                <a:spcPts val="1400"/>
              </a:lnSpc>
              <a:buNone/>
            </a:pPr>
            <a:r>
              <a:rPr lang="en-US" sz="1050" dirty="0">
                <a:solidFill>
                  <a:srgbClr val="3A4357"/>
                </a:solidFill>
                <a:latin typeface="Calibri" pitchFamily="34" charset="0"/>
                <a:ea typeface="Calibri" pitchFamily="34" charset="-122"/>
                <a:cs typeface="Calibri" pitchFamily="34" charset="-120"/>
              </a:rPr>
              <a:t>validated</a:t>
            </a:r>
            <a:endParaRPr lang="en-US" sz="1050" dirty="0"/>
          </a:p>
        </p:txBody>
      </p:sp>
      <p:sp>
        <p:nvSpPr>
          <p:cNvPr id="7" name="Text 5"/>
          <p:cNvSpPr txBox="1"/>
          <p:nvPr/>
        </p:nvSpPr>
        <p:spPr>
          <a:xfrm>
            <a:off x="2029968" y="1965960"/>
            <a:ext cx="214884" cy="365760"/>
          </a:xfrm>
          <a:prstGeom prst="rect">
            <a:avLst/>
          </a:prstGeom>
          <a:noFill/>
          <a:ln/>
        </p:spPr>
        <p:txBody>
          <a:bodyPr wrap="square" lIns="0" tIns="0" rIns="0" bIns="0" rtlCol="0" anchor="ctr"/>
          <a:lstStyle/>
          <a:p>
            <a:pPr algn="ctr" indent="0" marL="0">
              <a:buNone/>
            </a:pPr>
            <a:r>
              <a:rPr lang="en-US" sz="2000" b="1" dirty="0">
                <a:solidFill>
                  <a:srgbClr val="8A94A6"/>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244852" y="1463040"/>
            <a:ext cx="1481328" cy="1371600"/>
          </a:xfrm>
          <a:prstGeom prst="roundRect">
            <a:avLst>
              <a:gd name="adj" fmla="val 5333"/>
            </a:avLst>
          </a:prstGeom>
          <a:solidFill>
            <a:srgbClr val="F1F5FB"/>
          </a:solidFill>
          <a:ln/>
        </p:spPr>
      </p:sp>
      <p:sp>
        <p:nvSpPr>
          <p:cNvPr id="9" name="Text 7"/>
          <p:cNvSpPr txBox="1"/>
          <p:nvPr/>
        </p:nvSpPr>
        <p:spPr>
          <a:xfrm>
            <a:off x="2336292" y="1600200"/>
            <a:ext cx="1298448"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Rule-based</a:t>
            </a:r>
            <a:endParaRPr lang="en-US" sz="1300" dirty="0"/>
          </a:p>
          <a:p>
            <a:pPr algn="ctr" indent="0" marL="0">
              <a:buNone/>
            </a:pPr>
            <a:r>
              <a:rPr lang="en-US" sz="1300" b="1" dirty="0">
                <a:solidFill>
                  <a:srgbClr val="1E2761"/>
                </a:solidFill>
                <a:latin typeface="Calibri" pitchFamily="34" charset="0"/>
                <a:ea typeface="Calibri" pitchFamily="34" charset="-122"/>
                <a:cs typeface="Calibri" pitchFamily="34" charset="-120"/>
              </a:rPr>
              <a:t>strategy</a:t>
            </a:r>
            <a:endParaRPr lang="en-US" sz="1300" dirty="0"/>
          </a:p>
        </p:txBody>
      </p:sp>
      <p:sp>
        <p:nvSpPr>
          <p:cNvPr id="10" name="Text 8"/>
          <p:cNvSpPr txBox="1"/>
          <p:nvPr/>
        </p:nvSpPr>
        <p:spPr>
          <a:xfrm>
            <a:off x="2336292" y="2121408"/>
            <a:ext cx="1298448" cy="594360"/>
          </a:xfrm>
          <a:prstGeom prst="rect">
            <a:avLst/>
          </a:prstGeom>
          <a:noFill/>
          <a:ln/>
        </p:spPr>
        <p:txBody>
          <a:bodyPr wrap="square" lIns="0" tIns="0" rIns="0" bIns="0" rtlCol="0" anchor="ctr"/>
          <a:lstStyle/>
          <a:p>
            <a:pPr algn="ctr" indent="0" marL="0">
              <a:lnSpc>
                <a:spcPts val="1400"/>
              </a:lnSpc>
              <a:buNone/>
            </a:pPr>
            <a:r>
              <a:rPr lang="en-US" sz="1050" dirty="0">
                <a:solidFill>
                  <a:srgbClr val="3A4357"/>
                </a:solidFill>
                <a:latin typeface="Calibri" pitchFamily="34" charset="0"/>
                <a:ea typeface="Calibri" pitchFamily="34" charset="-122"/>
                <a:cs typeface="Calibri" pitchFamily="34" charset="-120"/>
              </a:rPr>
              <a:t>A fixed, readable</a:t>
            </a:r>
            <a:endParaRPr lang="en-US" sz="1050" dirty="0"/>
          </a:p>
          <a:p>
            <a:pPr algn="ctr" indent="0" marL="0">
              <a:lnSpc>
                <a:spcPts val="1400"/>
              </a:lnSpc>
              <a:buNone/>
            </a:pPr>
            <a:r>
              <a:rPr lang="en-US" sz="1050" dirty="0">
                <a:solidFill>
                  <a:srgbClr val="3A4357"/>
                </a:solidFill>
                <a:latin typeface="Calibri" pitchFamily="34" charset="0"/>
                <a:ea typeface="Calibri" pitchFamily="34" charset="-122"/>
                <a:cs typeface="Calibri" pitchFamily="34" charset="-120"/>
              </a:rPr>
              <a:t>breakout rule</a:t>
            </a:r>
            <a:endParaRPr lang="en-US" sz="1050" dirty="0"/>
          </a:p>
        </p:txBody>
      </p:sp>
      <p:sp>
        <p:nvSpPr>
          <p:cNvPr id="11" name="Text 9"/>
          <p:cNvSpPr txBox="1"/>
          <p:nvPr/>
        </p:nvSpPr>
        <p:spPr>
          <a:xfrm>
            <a:off x="3726180" y="1965960"/>
            <a:ext cx="214884" cy="365760"/>
          </a:xfrm>
          <a:prstGeom prst="rect">
            <a:avLst/>
          </a:prstGeom>
          <a:noFill/>
          <a:ln/>
        </p:spPr>
        <p:txBody>
          <a:bodyPr wrap="square" lIns="0" tIns="0" rIns="0" bIns="0" rtlCol="0" anchor="ctr"/>
          <a:lstStyle/>
          <a:p>
            <a:pPr algn="ctr" indent="0" marL="0">
              <a:buNone/>
            </a:pPr>
            <a:r>
              <a:rPr lang="en-US" sz="2000" b="1" dirty="0">
                <a:solidFill>
                  <a:srgbClr val="8A94A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3941064" y="1463040"/>
            <a:ext cx="1481328" cy="1371600"/>
          </a:xfrm>
          <a:prstGeom prst="roundRect">
            <a:avLst>
              <a:gd name="adj" fmla="val 5333"/>
            </a:avLst>
          </a:prstGeom>
          <a:solidFill>
            <a:srgbClr val="F2A03D"/>
          </a:solidFill>
          <a:ln/>
        </p:spPr>
      </p:sp>
      <p:sp>
        <p:nvSpPr>
          <p:cNvPr id="13" name="Text 11"/>
          <p:cNvSpPr txBox="1"/>
          <p:nvPr/>
        </p:nvSpPr>
        <p:spPr>
          <a:xfrm>
            <a:off x="4032504" y="1600200"/>
            <a:ext cx="1298448" cy="502920"/>
          </a:xfrm>
          <a:prstGeom prst="rect">
            <a:avLst/>
          </a:prstGeom>
          <a:noFill/>
          <a:ln/>
        </p:spPr>
        <p:txBody>
          <a:bodyPr wrap="square" lIns="0" tIns="0" rIns="0" bIns="0" rtlCol="0" anchor="ctr"/>
          <a:lstStyle/>
          <a:p>
            <a:pPr algn="ctr" indent="0" marL="0">
              <a:buNone/>
            </a:pPr>
            <a:r>
              <a:rPr lang="en-US" sz="1300" b="1" dirty="0">
                <a:solidFill>
                  <a:srgbClr val="141B44"/>
                </a:solidFill>
                <a:latin typeface="Calibri" pitchFamily="34" charset="0"/>
                <a:ea typeface="Calibri" pitchFamily="34" charset="-122"/>
                <a:cs typeface="Calibri" pitchFamily="34" charset="-120"/>
              </a:rPr>
              <a:t>AI filters</a:t>
            </a:r>
            <a:endParaRPr lang="en-US" sz="1300" dirty="0"/>
          </a:p>
        </p:txBody>
      </p:sp>
      <p:sp>
        <p:nvSpPr>
          <p:cNvPr id="14" name="Text 12"/>
          <p:cNvSpPr txBox="1"/>
          <p:nvPr/>
        </p:nvSpPr>
        <p:spPr>
          <a:xfrm>
            <a:off x="4032504" y="2121408"/>
            <a:ext cx="1298448" cy="594360"/>
          </a:xfrm>
          <a:prstGeom prst="rect">
            <a:avLst/>
          </a:prstGeom>
          <a:noFill/>
          <a:ln/>
        </p:spPr>
        <p:txBody>
          <a:bodyPr wrap="square" lIns="0" tIns="0" rIns="0" bIns="0" rtlCol="0" anchor="ctr"/>
          <a:lstStyle/>
          <a:p>
            <a:pPr algn="ctr" indent="0" marL="0">
              <a:lnSpc>
                <a:spcPts val="1400"/>
              </a:lnSpc>
              <a:buNone/>
            </a:pPr>
            <a:r>
              <a:rPr lang="en-US" sz="1050" dirty="0">
                <a:solidFill>
                  <a:srgbClr val="141B44"/>
                </a:solidFill>
                <a:latin typeface="Calibri" pitchFamily="34" charset="0"/>
                <a:ea typeface="Calibri" pitchFamily="34" charset="-122"/>
                <a:cs typeface="Calibri" pitchFamily="34" charset="-120"/>
              </a:rPr>
              <a:t>Is this the right</a:t>
            </a:r>
            <a:endParaRPr lang="en-US" sz="1050" dirty="0"/>
          </a:p>
          <a:p>
            <a:pPr algn="ctr" indent="0" marL="0">
              <a:lnSpc>
                <a:spcPts val="1400"/>
              </a:lnSpc>
              <a:buNone/>
            </a:pPr>
            <a:r>
              <a:rPr lang="en-US" sz="1050" dirty="0">
                <a:solidFill>
                  <a:srgbClr val="141B44"/>
                </a:solidFill>
                <a:latin typeface="Calibri" pitchFamily="34" charset="0"/>
                <a:ea typeface="Calibri" pitchFamily="34" charset="-122"/>
                <a:cs typeface="Calibri" pitchFamily="34" charset="-120"/>
              </a:rPr>
              <a:t>market for it?</a:t>
            </a:r>
            <a:endParaRPr lang="en-US" sz="1050" dirty="0"/>
          </a:p>
        </p:txBody>
      </p:sp>
      <p:sp>
        <p:nvSpPr>
          <p:cNvPr id="15" name="Text 13"/>
          <p:cNvSpPr txBox="1"/>
          <p:nvPr/>
        </p:nvSpPr>
        <p:spPr>
          <a:xfrm>
            <a:off x="5422392" y="1965960"/>
            <a:ext cx="214884" cy="365760"/>
          </a:xfrm>
          <a:prstGeom prst="rect">
            <a:avLst/>
          </a:prstGeom>
          <a:noFill/>
          <a:ln/>
        </p:spPr>
        <p:txBody>
          <a:bodyPr wrap="square" lIns="0" tIns="0" rIns="0" bIns="0" rtlCol="0" anchor="ctr"/>
          <a:lstStyle/>
          <a:p>
            <a:pPr algn="ctr" indent="0" marL="0">
              <a:buNone/>
            </a:pPr>
            <a:r>
              <a:rPr lang="en-US" sz="2000" b="1" dirty="0">
                <a:solidFill>
                  <a:srgbClr val="8A94A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5637276" y="1463040"/>
            <a:ext cx="1481328" cy="1371600"/>
          </a:xfrm>
          <a:prstGeom prst="roundRect">
            <a:avLst>
              <a:gd name="adj" fmla="val 5333"/>
            </a:avLst>
          </a:prstGeom>
          <a:solidFill>
            <a:srgbClr val="F1F5FB"/>
          </a:solidFill>
          <a:ln/>
        </p:spPr>
      </p:sp>
      <p:sp>
        <p:nvSpPr>
          <p:cNvPr id="17" name="Text 15"/>
          <p:cNvSpPr txBox="1"/>
          <p:nvPr/>
        </p:nvSpPr>
        <p:spPr>
          <a:xfrm>
            <a:off x="5728716" y="1600200"/>
            <a:ext cx="1298448"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Risk engine</a:t>
            </a:r>
            <a:endParaRPr lang="en-US" sz="1300" dirty="0"/>
          </a:p>
        </p:txBody>
      </p:sp>
      <p:sp>
        <p:nvSpPr>
          <p:cNvPr id="18" name="Text 16"/>
          <p:cNvSpPr txBox="1"/>
          <p:nvPr/>
        </p:nvSpPr>
        <p:spPr>
          <a:xfrm>
            <a:off x="5728716" y="2121408"/>
            <a:ext cx="1298448" cy="594360"/>
          </a:xfrm>
          <a:prstGeom prst="rect">
            <a:avLst/>
          </a:prstGeom>
          <a:noFill/>
          <a:ln/>
        </p:spPr>
        <p:txBody>
          <a:bodyPr wrap="square" lIns="0" tIns="0" rIns="0" bIns="0" rtlCol="0" anchor="ctr"/>
          <a:lstStyle/>
          <a:p>
            <a:pPr algn="ctr" indent="0" marL="0">
              <a:lnSpc>
                <a:spcPts val="1400"/>
              </a:lnSpc>
              <a:buNone/>
            </a:pPr>
            <a:r>
              <a:rPr lang="en-US" sz="1050" dirty="0">
                <a:solidFill>
                  <a:srgbClr val="3A4357"/>
                </a:solidFill>
                <a:latin typeface="Calibri" pitchFamily="34" charset="0"/>
                <a:ea typeface="Calibri" pitchFamily="34" charset="-122"/>
                <a:cs typeface="Calibri" pitchFamily="34" charset="-120"/>
              </a:rPr>
              <a:t>Hard limits on</a:t>
            </a:r>
            <a:endParaRPr lang="en-US" sz="1050" dirty="0"/>
          </a:p>
          <a:p>
            <a:pPr algn="ctr" indent="0" marL="0">
              <a:lnSpc>
                <a:spcPts val="1400"/>
              </a:lnSpc>
              <a:buNone/>
            </a:pPr>
            <a:r>
              <a:rPr lang="en-US" sz="1050" dirty="0">
                <a:solidFill>
                  <a:srgbClr val="3A4357"/>
                </a:solidFill>
                <a:latin typeface="Calibri" pitchFamily="34" charset="0"/>
                <a:ea typeface="Calibri" pitchFamily="34" charset="-122"/>
                <a:cs typeface="Calibri" pitchFamily="34" charset="-120"/>
              </a:rPr>
              <a:t>size and loss</a:t>
            </a:r>
            <a:endParaRPr lang="en-US" sz="1050" dirty="0"/>
          </a:p>
        </p:txBody>
      </p:sp>
      <p:sp>
        <p:nvSpPr>
          <p:cNvPr id="19" name="Text 17"/>
          <p:cNvSpPr txBox="1"/>
          <p:nvPr/>
        </p:nvSpPr>
        <p:spPr>
          <a:xfrm>
            <a:off x="7118604" y="1965960"/>
            <a:ext cx="214884" cy="365760"/>
          </a:xfrm>
          <a:prstGeom prst="rect">
            <a:avLst/>
          </a:prstGeom>
          <a:noFill/>
          <a:ln/>
        </p:spPr>
        <p:txBody>
          <a:bodyPr wrap="square" lIns="0" tIns="0" rIns="0" bIns="0" rtlCol="0" anchor="ctr"/>
          <a:lstStyle/>
          <a:p>
            <a:pPr algn="ctr" indent="0" marL="0">
              <a:buNone/>
            </a:pPr>
            <a:r>
              <a:rPr lang="en-US" sz="2000" b="1" dirty="0">
                <a:solidFill>
                  <a:srgbClr val="8A94A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7333488" y="1463040"/>
            <a:ext cx="1481328" cy="1371600"/>
          </a:xfrm>
          <a:prstGeom prst="roundRect">
            <a:avLst>
              <a:gd name="adj" fmla="val 5333"/>
            </a:avLst>
          </a:prstGeom>
          <a:solidFill>
            <a:srgbClr val="F1F5FB"/>
          </a:solidFill>
          <a:ln/>
        </p:spPr>
      </p:sp>
      <p:sp>
        <p:nvSpPr>
          <p:cNvPr id="21" name="Text 19"/>
          <p:cNvSpPr txBox="1"/>
          <p:nvPr/>
        </p:nvSpPr>
        <p:spPr>
          <a:xfrm>
            <a:off x="7424928" y="1600200"/>
            <a:ext cx="1298448" cy="50292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Paper trade</a:t>
            </a:r>
            <a:endParaRPr lang="en-US" sz="1300" dirty="0"/>
          </a:p>
        </p:txBody>
      </p:sp>
      <p:sp>
        <p:nvSpPr>
          <p:cNvPr id="22" name="Text 20"/>
          <p:cNvSpPr txBox="1"/>
          <p:nvPr/>
        </p:nvSpPr>
        <p:spPr>
          <a:xfrm>
            <a:off x="7424928" y="2121408"/>
            <a:ext cx="1298448" cy="594360"/>
          </a:xfrm>
          <a:prstGeom prst="rect">
            <a:avLst/>
          </a:prstGeom>
          <a:noFill/>
          <a:ln/>
        </p:spPr>
        <p:txBody>
          <a:bodyPr wrap="square" lIns="0" tIns="0" rIns="0" bIns="0" rtlCol="0" anchor="ctr"/>
          <a:lstStyle/>
          <a:p>
            <a:pPr algn="ctr" indent="0" marL="0">
              <a:lnSpc>
                <a:spcPts val="1400"/>
              </a:lnSpc>
              <a:buNone/>
            </a:pPr>
            <a:r>
              <a:rPr lang="en-US" sz="1050" dirty="0">
                <a:solidFill>
                  <a:srgbClr val="3A4357"/>
                </a:solidFill>
                <a:latin typeface="Calibri" pitchFamily="34" charset="0"/>
                <a:ea typeface="Calibri" pitchFamily="34" charset="-122"/>
                <a:cs typeface="Calibri" pitchFamily="34" charset="-120"/>
              </a:rPr>
              <a:t>Placed, logged,</a:t>
            </a:r>
            <a:endParaRPr lang="en-US" sz="1050" dirty="0"/>
          </a:p>
          <a:p>
            <a:pPr algn="ctr" indent="0" marL="0">
              <a:lnSpc>
                <a:spcPts val="1400"/>
              </a:lnSpc>
              <a:buNone/>
            </a:pPr>
            <a:r>
              <a:rPr lang="en-US" sz="1050" dirty="0">
                <a:solidFill>
                  <a:srgbClr val="3A4357"/>
                </a:solidFill>
                <a:latin typeface="Calibri" pitchFamily="34" charset="0"/>
                <a:ea typeface="Calibri" pitchFamily="34" charset="-122"/>
                <a:cs typeface="Calibri" pitchFamily="34" charset="-120"/>
              </a:rPr>
              <a:t>explained</a:t>
            </a:r>
            <a:endParaRPr lang="en-US" sz="1050" dirty="0"/>
          </a:p>
        </p:txBody>
      </p:sp>
      <p:sp>
        <p:nvSpPr>
          <p:cNvPr id="23" name="Shape 21"/>
          <p:cNvSpPr/>
          <p:nvPr/>
        </p:nvSpPr>
        <p:spPr>
          <a:xfrm>
            <a:off x="548640" y="3063240"/>
            <a:ext cx="5074920" cy="1143000"/>
          </a:xfrm>
          <a:prstGeom prst="roundRect">
            <a:avLst>
              <a:gd name="adj" fmla="val 6400"/>
            </a:avLst>
          </a:prstGeom>
          <a:solidFill>
            <a:srgbClr val="141B44"/>
          </a:solidFill>
          <a:ln/>
        </p:spPr>
      </p:sp>
      <p:sp>
        <p:nvSpPr>
          <p:cNvPr id="24" name="Text 22"/>
          <p:cNvSpPr txBox="1"/>
          <p:nvPr/>
        </p:nvSpPr>
        <p:spPr>
          <a:xfrm>
            <a:off x="777240" y="3218688"/>
            <a:ext cx="4617720" cy="292608"/>
          </a:xfrm>
          <a:prstGeom prst="rect">
            <a:avLst/>
          </a:prstGeom>
          <a:noFill/>
          <a:ln/>
        </p:spPr>
        <p:txBody>
          <a:bodyPr wrap="square" lIns="0" tIns="0" rIns="0" bIns="0" rtlCol="0" anchor="ctr"/>
          <a:lstStyle/>
          <a:p>
            <a:pPr indent="0" marL="0">
              <a:buNone/>
            </a:pPr>
            <a:r>
              <a:rPr lang="en-US" sz="1500" b="1" dirty="0">
                <a:solidFill>
                  <a:srgbClr val="F2A03D"/>
                </a:solidFill>
                <a:latin typeface="Calibri" pitchFamily="34" charset="0"/>
                <a:ea typeface="Calibri" pitchFamily="34" charset="-122"/>
                <a:cs typeface="Calibri" pitchFamily="34" charset="-120"/>
              </a:rPr>
              <a:t>The AI never decides a trade.</a:t>
            </a:r>
            <a:endParaRPr lang="en-US" sz="1500" dirty="0"/>
          </a:p>
        </p:txBody>
      </p:sp>
      <p:sp>
        <p:nvSpPr>
          <p:cNvPr id="25" name="Text 23"/>
          <p:cNvSpPr txBox="1"/>
          <p:nvPr/>
        </p:nvSpPr>
        <p:spPr>
          <a:xfrm>
            <a:off x="777240" y="3529584"/>
            <a:ext cx="4617720" cy="59436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It classifies the market and scores signal quality — then a fixed rule combines those into approve, reduce, delay or reject. The risk engine can override all of it.</a:t>
            </a:r>
            <a:endParaRPr lang="en-US" sz="1150" dirty="0"/>
          </a:p>
        </p:txBody>
      </p:sp>
      <p:sp>
        <p:nvSpPr>
          <p:cNvPr id="26" name="Shape 24"/>
          <p:cNvSpPr/>
          <p:nvPr/>
        </p:nvSpPr>
        <p:spPr>
          <a:xfrm>
            <a:off x="5852160" y="3063240"/>
            <a:ext cx="2743200" cy="1143000"/>
          </a:xfrm>
          <a:prstGeom prst="roundRect">
            <a:avLst>
              <a:gd name="adj" fmla="val 6400"/>
            </a:avLst>
          </a:prstGeom>
          <a:solidFill>
            <a:srgbClr val="F1F5FB"/>
          </a:solidFill>
          <a:ln/>
        </p:spPr>
      </p:sp>
      <p:sp>
        <p:nvSpPr>
          <p:cNvPr id="27" name="Text 25"/>
          <p:cNvSpPr txBox="1"/>
          <p:nvPr/>
        </p:nvSpPr>
        <p:spPr>
          <a:xfrm>
            <a:off x="6053328" y="3218688"/>
            <a:ext cx="237744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Then it explains itself</a:t>
            </a:r>
            <a:endParaRPr lang="en-US" sz="1300" dirty="0"/>
          </a:p>
        </p:txBody>
      </p:sp>
      <p:sp>
        <p:nvSpPr>
          <p:cNvPr id="28" name="Text 26"/>
          <p:cNvSpPr txBox="1"/>
          <p:nvPr/>
        </p:nvSpPr>
        <p:spPr>
          <a:xfrm>
            <a:off x="6053328" y="3520440"/>
            <a:ext cx="2377440" cy="594360"/>
          </a:xfrm>
          <a:prstGeom prst="rect">
            <a:avLst/>
          </a:prstGeom>
          <a:noFill/>
          <a:ln/>
        </p:spPr>
        <p:txBody>
          <a:bodyPr wrap="square" lIns="0" tIns="0" rIns="0" bIns="0" rtlCol="0" anchor="ctr"/>
          <a:lstStyle/>
          <a:p>
            <a:pPr indent="0" marL="0">
              <a:lnSpc>
                <a:spcPts val="1400"/>
              </a:lnSpc>
              <a:buNone/>
            </a:pPr>
            <a:r>
              <a:rPr lang="en-US" sz="1100" i="1" dirty="0">
                <a:solidFill>
                  <a:srgbClr val="3A4357"/>
                </a:solidFill>
                <a:latin typeface="Calibri" pitchFamily="34" charset="0"/>
                <a:ea typeface="Calibri" pitchFamily="34" charset="-122"/>
                <a:cs typeface="Calibri" pitchFamily="34" charset="-120"/>
              </a:rPr>
              <a:t>“Approved — uptrend (72%), signal quality 0.64, no risk limits active.”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What makes it different</a:t>
            </a:r>
            <a:endParaRPr lang="en-US" sz="3800" dirty="0"/>
          </a:p>
        </p:txBody>
      </p:sp>
      <p:sp>
        <p:nvSpPr>
          <p:cNvPr id="3" name="Shape 1"/>
          <p:cNvSpPr/>
          <p:nvPr/>
        </p:nvSpPr>
        <p:spPr>
          <a:xfrm>
            <a:off x="548640" y="1188720"/>
            <a:ext cx="3886200" cy="3108960"/>
          </a:xfrm>
          <a:prstGeom prst="roundRect">
            <a:avLst>
              <a:gd name="adj" fmla="val 2941"/>
            </a:avLst>
          </a:prstGeom>
          <a:solidFill>
            <a:srgbClr val="F1F5FB"/>
          </a:solidFill>
          <a:ln/>
        </p:spPr>
      </p:sp>
      <p:sp>
        <p:nvSpPr>
          <p:cNvPr id="4" name="Shape 2"/>
          <p:cNvSpPr/>
          <p:nvPr/>
        </p:nvSpPr>
        <p:spPr>
          <a:xfrm>
            <a:off x="4709160" y="1188720"/>
            <a:ext cx="3886200" cy="3108960"/>
          </a:xfrm>
          <a:prstGeom prst="roundRect">
            <a:avLst>
              <a:gd name="adj" fmla="val 2941"/>
            </a:avLst>
          </a:prstGeom>
          <a:solidFill>
            <a:srgbClr val="141B44"/>
          </a:solidFill>
          <a:ln/>
        </p:spPr>
      </p:sp>
      <p:sp>
        <p:nvSpPr>
          <p:cNvPr id="5" name="Text 3"/>
          <p:cNvSpPr txBox="1"/>
          <p:nvPr/>
        </p:nvSpPr>
        <p:spPr>
          <a:xfrm>
            <a:off x="822960" y="1417320"/>
            <a:ext cx="3383280" cy="320040"/>
          </a:xfrm>
          <a:prstGeom prst="rect">
            <a:avLst/>
          </a:prstGeom>
          <a:noFill/>
          <a:ln/>
        </p:spPr>
        <p:txBody>
          <a:bodyPr wrap="square" lIns="0" tIns="0" rIns="0" bIns="0" rtlCol="0" anchor="ctr"/>
          <a:lstStyle/>
          <a:p>
            <a:pPr indent="0" marL="0">
              <a:buNone/>
            </a:pPr>
            <a:r>
              <a:rPr lang="en-US" sz="1400" b="1" dirty="0">
                <a:solidFill>
                  <a:srgbClr val="8A94A6"/>
                </a:solidFill>
                <a:latin typeface="Calibri" pitchFamily="34" charset="0"/>
                <a:ea typeface="Calibri" pitchFamily="34" charset="-122"/>
                <a:cs typeface="Calibri" pitchFamily="34" charset="-120"/>
              </a:rPr>
              <a:t>The usual AI trading bot</a:t>
            </a:r>
            <a:endParaRPr lang="en-US" sz="1400" dirty="0"/>
          </a:p>
        </p:txBody>
      </p:sp>
      <p:sp>
        <p:nvSpPr>
          <p:cNvPr id="6" name="Text 4"/>
          <p:cNvSpPr txBox="1"/>
          <p:nvPr/>
        </p:nvSpPr>
        <p:spPr>
          <a:xfrm>
            <a:off x="4983480" y="1417320"/>
            <a:ext cx="3383280" cy="320040"/>
          </a:xfrm>
          <a:prstGeom prst="rect">
            <a:avLst/>
          </a:prstGeom>
          <a:noFill/>
          <a:ln/>
        </p:spPr>
        <p:txBody>
          <a:bodyPr wrap="square" lIns="0" tIns="0" rIns="0" bIns="0" rtlCol="0" anchor="ctr"/>
          <a:lstStyle/>
          <a:p>
            <a:pPr indent="0" marL="0">
              <a:buNone/>
            </a:pPr>
            <a:r>
              <a:rPr lang="en-US" sz="1400" b="1" dirty="0">
                <a:solidFill>
                  <a:srgbClr val="F2A03D"/>
                </a:solidFill>
                <a:latin typeface="Calibri" pitchFamily="34" charset="0"/>
                <a:ea typeface="Calibri" pitchFamily="34" charset="-122"/>
                <a:cs typeface="Calibri" pitchFamily="34" charset="-120"/>
              </a:rPr>
              <a:t>PROJECT BETA</a:t>
            </a:r>
            <a:endParaRPr lang="en-US" sz="1400" dirty="0"/>
          </a:p>
        </p:txBody>
      </p:sp>
      <p:sp>
        <p:nvSpPr>
          <p:cNvPr id="7" name="Text 5"/>
          <p:cNvSpPr txBox="1"/>
          <p:nvPr/>
        </p:nvSpPr>
        <p:spPr>
          <a:xfrm>
            <a:off x="822960" y="1874520"/>
            <a:ext cx="3383280" cy="502920"/>
          </a:xfrm>
          <a:prstGeom prst="rect">
            <a:avLst/>
          </a:prstGeom>
          <a:noFill/>
          <a:ln/>
        </p:spPr>
        <p:txBody>
          <a:bodyPr wrap="square" lIns="0" tIns="0" rIns="0" bIns="0" rtlCol="0" anchor="ctr"/>
          <a:lstStyle/>
          <a:p>
            <a:pPr indent="0" marL="0">
              <a:lnSpc>
                <a:spcPts val="1500"/>
              </a:lnSpc>
              <a:buNone/>
            </a:pPr>
            <a:r>
              <a:rPr lang="en-US" sz="1200" dirty="0">
                <a:solidFill>
                  <a:srgbClr val="3A4357"/>
                </a:solidFill>
                <a:latin typeface="Calibri" pitchFamily="34" charset="0"/>
                <a:ea typeface="Calibri" pitchFamily="34" charset="-122"/>
                <a:cs typeface="Calibri" pitchFamily="34" charset="-120"/>
              </a:rPr>
              <a:t>A language model picks the trades</a:t>
            </a:r>
            <a:endParaRPr lang="en-US" sz="1200" dirty="0"/>
          </a:p>
        </p:txBody>
      </p:sp>
      <p:sp>
        <p:nvSpPr>
          <p:cNvPr id="8" name="Shape 6"/>
          <p:cNvSpPr/>
          <p:nvPr/>
        </p:nvSpPr>
        <p:spPr>
          <a:xfrm>
            <a:off x="4983480" y="1929384"/>
            <a:ext cx="201168" cy="201168"/>
          </a:xfrm>
          <a:prstGeom prst="ellipse">
            <a:avLst/>
          </a:prstGeom>
          <a:solidFill>
            <a:srgbClr val="F2A03D"/>
          </a:solidFill>
          <a:ln/>
        </p:spPr>
      </p:sp>
      <p:sp>
        <p:nvSpPr>
          <p:cNvPr id="9" name="Text 7"/>
          <p:cNvSpPr txBox="1"/>
          <p:nvPr/>
        </p:nvSpPr>
        <p:spPr>
          <a:xfrm>
            <a:off x="5303520" y="1874520"/>
            <a:ext cx="3063240" cy="502920"/>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AI only filters a rule you can read</a:t>
            </a:r>
            <a:endParaRPr lang="en-US" sz="1200" dirty="0"/>
          </a:p>
        </p:txBody>
      </p:sp>
      <p:sp>
        <p:nvSpPr>
          <p:cNvPr id="10" name="Text 8"/>
          <p:cNvSpPr txBox="1"/>
          <p:nvPr/>
        </p:nvSpPr>
        <p:spPr>
          <a:xfrm>
            <a:off x="822960" y="2478024"/>
            <a:ext cx="3383280" cy="502920"/>
          </a:xfrm>
          <a:prstGeom prst="rect">
            <a:avLst/>
          </a:prstGeom>
          <a:noFill/>
          <a:ln/>
        </p:spPr>
        <p:txBody>
          <a:bodyPr wrap="square" lIns="0" tIns="0" rIns="0" bIns="0" rtlCol="0" anchor="ctr"/>
          <a:lstStyle/>
          <a:p>
            <a:pPr indent="0" marL="0">
              <a:lnSpc>
                <a:spcPts val="1500"/>
              </a:lnSpc>
              <a:buNone/>
            </a:pPr>
            <a:r>
              <a:rPr lang="en-US" sz="1200" dirty="0">
                <a:solidFill>
                  <a:srgbClr val="3A4357"/>
                </a:solidFill>
                <a:latin typeface="Calibri" pitchFamily="34" charset="0"/>
                <a:ea typeface="Calibri" pitchFamily="34" charset="-122"/>
                <a:cs typeface="Calibri" pitchFamily="34" charset="-120"/>
              </a:rPr>
              <a:t>One flattering backtest</a:t>
            </a:r>
            <a:endParaRPr lang="en-US" sz="1200" dirty="0"/>
          </a:p>
        </p:txBody>
      </p:sp>
      <p:sp>
        <p:nvSpPr>
          <p:cNvPr id="11" name="Shape 9"/>
          <p:cNvSpPr/>
          <p:nvPr/>
        </p:nvSpPr>
        <p:spPr>
          <a:xfrm>
            <a:off x="4983480" y="2532888"/>
            <a:ext cx="201168" cy="201168"/>
          </a:xfrm>
          <a:prstGeom prst="ellipse">
            <a:avLst/>
          </a:prstGeom>
          <a:solidFill>
            <a:srgbClr val="F2A03D"/>
          </a:solidFill>
          <a:ln/>
        </p:spPr>
      </p:sp>
      <p:sp>
        <p:nvSpPr>
          <p:cNvPr id="12" name="Text 10"/>
          <p:cNvSpPr txBox="1"/>
          <p:nvPr/>
        </p:nvSpPr>
        <p:spPr>
          <a:xfrm>
            <a:off x="5303520" y="2478024"/>
            <a:ext cx="3063240" cy="502920"/>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Each AI piece measured separately, on unseen data</a:t>
            </a:r>
            <a:endParaRPr lang="en-US" sz="1200" dirty="0"/>
          </a:p>
        </p:txBody>
      </p:sp>
      <p:sp>
        <p:nvSpPr>
          <p:cNvPr id="13" name="Text 11"/>
          <p:cNvSpPr txBox="1"/>
          <p:nvPr/>
        </p:nvSpPr>
        <p:spPr>
          <a:xfrm>
            <a:off x="822960" y="3081528"/>
            <a:ext cx="3383280" cy="502920"/>
          </a:xfrm>
          <a:prstGeom prst="rect">
            <a:avLst/>
          </a:prstGeom>
          <a:noFill/>
          <a:ln/>
        </p:spPr>
        <p:txBody>
          <a:bodyPr wrap="square" lIns="0" tIns="0" rIns="0" bIns="0" rtlCol="0" anchor="ctr"/>
          <a:lstStyle/>
          <a:p>
            <a:pPr indent="0" marL="0">
              <a:lnSpc>
                <a:spcPts val="1500"/>
              </a:lnSpc>
              <a:buNone/>
            </a:pPr>
            <a:r>
              <a:rPr lang="en-US" sz="1200" dirty="0">
                <a:solidFill>
                  <a:srgbClr val="3A4357"/>
                </a:solidFill>
                <a:latin typeface="Calibri" pitchFamily="34" charset="0"/>
                <a:ea typeface="Calibri" pitchFamily="34" charset="-122"/>
                <a:cs typeface="Calibri" pitchFamily="34" charset="-120"/>
              </a:rPr>
              <a:t>Explanations invented after the fact</a:t>
            </a:r>
            <a:endParaRPr lang="en-US" sz="1200" dirty="0"/>
          </a:p>
        </p:txBody>
      </p:sp>
      <p:sp>
        <p:nvSpPr>
          <p:cNvPr id="14" name="Shape 12"/>
          <p:cNvSpPr/>
          <p:nvPr/>
        </p:nvSpPr>
        <p:spPr>
          <a:xfrm>
            <a:off x="4983480" y="3136392"/>
            <a:ext cx="201168" cy="201168"/>
          </a:xfrm>
          <a:prstGeom prst="ellipse">
            <a:avLst/>
          </a:prstGeom>
          <a:solidFill>
            <a:srgbClr val="F2A03D"/>
          </a:solidFill>
          <a:ln/>
        </p:spPr>
      </p:sp>
      <p:sp>
        <p:nvSpPr>
          <p:cNvPr id="15" name="Text 13"/>
          <p:cNvSpPr txBox="1"/>
          <p:nvPr/>
        </p:nvSpPr>
        <p:spPr>
          <a:xfrm>
            <a:off x="5303520" y="3081528"/>
            <a:ext cx="3063240" cy="502920"/>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Every explanation traced to a logged record</a:t>
            </a:r>
            <a:endParaRPr lang="en-US" sz="1200" dirty="0"/>
          </a:p>
        </p:txBody>
      </p:sp>
      <p:sp>
        <p:nvSpPr>
          <p:cNvPr id="16" name="Text 14"/>
          <p:cNvSpPr txBox="1"/>
          <p:nvPr/>
        </p:nvSpPr>
        <p:spPr>
          <a:xfrm>
            <a:off x="822960" y="3685032"/>
            <a:ext cx="3383280" cy="502920"/>
          </a:xfrm>
          <a:prstGeom prst="rect">
            <a:avLst/>
          </a:prstGeom>
          <a:noFill/>
          <a:ln/>
        </p:spPr>
        <p:txBody>
          <a:bodyPr wrap="square" lIns="0" tIns="0" rIns="0" bIns="0" rtlCol="0" anchor="ctr"/>
          <a:lstStyle/>
          <a:p>
            <a:pPr indent="0" marL="0">
              <a:lnSpc>
                <a:spcPts val="1500"/>
              </a:lnSpc>
              <a:buNone/>
            </a:pPr>
            <a:r>
              <a:rPr lang="en-US" sz="1200" dirty="0">
                <a:solidFill>
                  <a:srgbClr val="3A4357"/>
                </a:solidFill>
                <a:latin typeface="Calibri" pitchFamily="34" charset="0"/>
                <a:ea typeface="Calibri" pitchFamily="34" charset="-122"/>
                <a:cs typeface="Calibri" pitchFamily="34" charset="-120"/>
              </a:rPr>
              <a:t>Failures quietly omitted</a:t>
            </a:r>
            <a:endParaRPr lang="en-US" sz="1200" dirty="0"/>
          </a:p>
        </p:txBody>
      </p:sp>
      <p:sp>
        <p:nvSpPr>
          <p:cNvPr id="17" name="Shape 15"/>
          <p:cNvSpPr/>
          <p:nvPr/>
        </p:nvSpPr>
        <p:spPr>
          <a:xfrm>
            <a:off x="4983480" y="3739896"/>
            <a:ext cx="201168" cy="201168"/>
          </a:xfrm>
          <a:prstGeom prst="ellipse">
            <a:avLst/>
          </a:prstGeom>
          <a:solidFill>
            <a:srgbClr val="F2A03D"/>
          </a:solidFill>
          <a:ln/>
        </p:spPr>
      </p:sp>
      <p:sp>
        <p:nvSpPr>
          <p:cNvPr id="18" name="Text 16"/>
          <p:cNvSpPr txBox="1"/>
          <p:nvPr/>
        </p:nvSpPr>
        <p:spPr>
          <a:xfrm>
            <a:off x="5303520" y="3685032"/>
            <a:ext cx="3063240" cy="502920"/>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Failure analysis is a required deliverable</a:t>
            </a:r>
            <a:endParaRPr lang="en-US" sz="1200" dirty="0"/>
          </a:p>
        </p:txBody>
      </p:sp>
      <p:sp>
        <p:nvSpPr>
          <p:cNvPr id="19" name="Text 17"/>
          <p:cNvSpPr txBox="1"/>
          <p:nvPr/>
        </p:nvSpPr>
        <p:spPr>
          <a:xfrm>
            <a:off x="548640" y="4434840"/>
            <a:ext cx="8046720" cy="411480"/>
          </a:xfrm>
          <a:prstGeom prst="rect">
            <a:avLst/>
          </a:prstGeom>
          <a:noFill/>
          <a:ln/>
        </p:spPr>
        <p:txBody>
          <a:bodyPr wrap="square" lIns="0" tIns="0" rIns="0" bIns="0"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The claim is not “this beats the market.” It's that you can tell exactly what it did, and why — and that a negative result would still be a real finding.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How we'll know it worked</a:t>
            </a:r>
            <a:endParaRPr lang="en-US" sz="3800" dirty="0"/>
          </a:p>
        </p:txBody>
      </p:sp>
      <p:sp>
        <p:nvSpPr>
          <p:cNvPr id="3" name="Text 1"/>
          <p:cNvSpPr txBox="1"/>
          <p:nvPr/>
        </p:nvSpPr>
        <p:spPr>
          <a:xfrm>
            <a:off x="548640" y="987552"/>
            <a:ext cx="3931920" cy="274320"/>
          </a:xfrm>
          <a:prstGeom prst="rect">
            <a:avLst/>
          </a:prstGeom>
          <a:noFill/>
          <a:ln/>
        </p:spPr>
        <p:txBody>
          <a:bodyPr wrap="square" lIns="0" tIns="0" rIns="0" bIns="0" rtlCol="0" anchor="ctr"/>
          <a:lstStyle/>
          <a:p>
            <a:pPr indent="0" marL="0">
              <a:buNone/>
            </a:pPr>
            <a:r>
              <a:rPr lang="en-US" sz="1300" dirty="0">
                <a:solidFill>
                  <a:srgbClr val="3A4357"/>
                </a:solidFill>
                <a:latin typeface="Calibri" pitchFamily="34" charset="0"/>
                <a:ea typeface="Calibri" pitchFamily="34" charset="-122"/>
                <a:cs typeface="Calibri" pitchFamily="34" charset="-120"/>
              </a:rPr>
              <a:t>Measured two ways, because one isn't enough</a:t>
            </a:r>
            <a:endParaRPr lang="en-US" sz="1300" dirty="0"/>
          </a:p>
        </p:txBody>
      </p:sp>
      <p:sp>
        <p:nvSpPr>
          <p:cNvPr id="4" name="Shape 2"/>
          <p:cNvSpPr/>
          <p:nvPr/>
        </p:nvSpPr>
        <p:spPr>
          <a:xfrm>
            <a:off x="548640" y="1371600"/>
            <a:ext cx="3931920" cy="914400"/>
          </a:xfrm>
          <a:prstGeom prst="roundRect">
            <a:avLst>
              <a:gd name="adj" fmla="val 8000"/>
            </a:avLst>
          </a:prstGeom>
          <a:solidFill>
            <a:srgbClr val="F1F5FB"/>
          </a:solidFill>
          <a:ln/>
        </p:spPr>
      </p:sp>
      <p:sp>
        <p:nvSpPr>
          <p:cNvPr id="5" name="Text 3"/>
          <p:cNvSpPr txBox="1"/>
          <p:nvPr/>
        </p:nvSpPr>
        <p:spPr>
          <a:xfrm>
            <a:off x="777240" y="1490472"/>
            <a:ext cx="3474720" cy="2743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Does it trade better?</a:t>
            </a:r>
            <a:endParaRPr lang="en-US" sz="1400" dirty="0"/>
          </a:p>
        </p:txBody>
      </p:sp>
      <p:sp>
        <p:nvSpPr>
          <p:cNvPr id="6" name="Text 4"/>
          <p:cNvSpPr txBox="1"/>
          <p:nvPr/>
        </p:nvSpPr>
        <p:spPr>
          <a:xfrm>
            <a:off x="777240" y="1773936"/>
            <a:ext cx="3520440" cy="457200"/>
          </a:xfrm>
          <a:prstGeom prst="rect">
            <a:avLst/>
          </a:prstGeom>
          <a:noFill/>
          <a:ln/>
        </p:spPr>
        <p:txBody>
          <a:bodyPr wrap="square" lIns="0" tIns="0" rIns="0" bIns="0" rtlCol="0" anchor="ctr"/>
          <a:lstStyle/>
          <a:p>
            <a:pPr indent="0" marL="0">
              <a:lnSpc>
                <a:spcPts val="1400"/>
              </a:lnSpc>
              <a:buNone/>
            </a:pPr>
            <a:r>
              <a:rPr lang="en-US" sz="1100" dirty="0">
                <a:solidFill>
                  <a:srgbClr val="3A4357"/>
                </a:solidFill>
                <a:latin typeface="Calibri" pitchFamily="34" charset="0"/>
                <a:ea typeface="Calibri" pitchFamily="34" charset="-122"/>
                <a:cs typeface="Calibri" pitchFamily="34" charset="-120"/>
              </a:rPr>
              <a:t>Risk-adjusted return and worst-case loss, versus the same strategy with no AI — after real trading costs.</a:t>
            </a:r>
            <a:endParaRPr lang="en-US" sz="1100" dirty="0"/>
          </a:p>
        </p:txBody>
      </p:sp>
      <p:sp>
        <p:nvSpPr>
          <p:cNvPr id="7" name="Shape 5"/>
          <p:cNvSpPr/>
          <p:nvPr/>
        </p:nvSpPr>
        <p:spPr>
          <a:xfrm>
            <a:off x="548640" y="2423160"/>
            <a:ext cx="3931920" cy="914400"/>
          </a:xfrm>
          <a:prstGeom prst="roundRect">
            <a:avLst>
              <a:gd name="adj" fmla="val 8000"/>
            </a:avLst>
          </a:prstGeom>
          <a:solidFill>
            <a:srgbClr val="F1F5FB"/>
          </a:solidFill>
          <a:ln/>
        </p:spPr>
      </p:sp>
      <p:sp>
        <p:nvSpPr>
          <p:cNvPr id="8" name="Text 6"/>
          <p:cNvSpPr txBox="1"/>
          <p:nvPr/>
        </p:nvSpPr>
        <p:spPr>
          <a:xfrm>
            <a:off x="777240" y="2542032"/>
            <a:ext cx="3474720" cy="2743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Can a person follow it?</a:t>
            </a:r>
            <a:endParaRPr lang="en-US" sz="1400" dirty="0"/>
          </a:p>
        </p:txBody>
      </p:sp>
      <p:sp>
        <p:nvSpPr>
          <p:cNvPr id="9" name="Text 7"/>
          <p:cNvSpPr txBox="1"/>
          <p:nvPr/>
        </p:nvSpPr>
        <p:spPr>
          <a:xfrm>
            <a:off x="777240" y="2825496"/>
            <a:ext cx="3520440" cy="457200"/>
          </a:xfrm>
          <a:prstGeom prst="rect">
            <a:avLst/>
          </a:prstGeom>
          <a:noFill/>
          <a:ln/>
        </p:spPr>
        <p:txBody>
          <a:bodyPr wrap="square" lIns="0" tIns="0" rIns="0" bIns="0" rtlCol="0" anchor="ctr"/>
          <a:lstStyle/>
          <a:p>
            <a:pPr indent="0" marL="0">
              <a:lnSpc>
                <a:spcPts val="1400"/>
              </a:lnSpc>
              <a:buNone/>
            </a:pPr>
            <a:r>
              <a:rPr lang="en-US" sz="1100" dirty="0">
                <a:solidFill>
                  <a:srgbClr val="3A4357"/>
                </a:solidFill>
                <a:latin typeface="Calibri" pitchFamily="34" charset="0"/>
                <a:ea typeface="Calibri" pitchFamily="34" charset="-122"/>
                <a:cs typeface="Calibri" pitchFamily="34" charset="-120"/>
              </a:rPr>
              <a:t>Someone new to the system reads the screen and correctly says why the last trade happened. Timed, scored.</a:t>
            </a:r>
            <a:endParaRPr lang="en-US" sz="1100" dirty="0"/>
          </a:p>
        </p:txBody>
      </p:sp>
      <p:sp>
        <p:nvSpPr>
          <p:cNvPr id="10" name="Text 8"/>
          <p:cNvSpPr txBox="1"/>
          <p:nvPr/>
        </p:nvSpPr>
        <p:spPr>
          <a:xfrm>
            <a:off x="548640" y="3611880"/>
            <a:ext cx="3931920" cy="228600"/>
          </a:xfrm>
          <a:prstGeom prst="rect">
            <a:avLst/>
          </a:prstGeom>
          <a:noFill/>
          <a:ln/>
        </p:spPr>
        <p:txBody>
          <a:bodyPr wrap="square" lIns="0" tIns="0" rIns="0" bIns="0" rtlCol="0" anchor="ctr"/>
          <a:lstStyle/>
          <a:p>
            <a:pPr indent="0" marL="0">
              <a:buNone/>
            </a:pPr>
            <a:r>
              <a:rPr lang="en-US" sz="1150" dirty="0">
                <a:solidFill>
                  <a:srgbClr val="3A4357"/>
                </a:solidFill>
                <a:latin typeface="Calibri" pitchFamily="34" charset="0"/>
                <a:ea typeface="Calibri" pitchFamily="34" charset="-122"/>
                <a:cs typeface="Calibri" pitchFamily="34" charset="-120"/>
              </a:rPr>
              <a:t>Each AI piece is switched on one at a time, so its</a:t>
            </a:r>
            <a:endParaRPr lang="en-US" sz="1150" dirty="0"/>
          </a:p>
        </p:txBody>
      </p:sp>
      <p:sp>
        <p:nvSpPr>
          <p:cNvPr id="11" name="Text 9"/>
          <p:cNvSpPr txBox="1"/>
          <p:nvPr/>
        </p:nvSpPr>
        <p:spPr>
          <a:xfrm>
            <a:off x="548640" y="3822192"/>
            <a:ext cx="3931920" cy="228600"/>
          </a:xfrm>
          <a:prstGeom prst="rect">
            <a:avLst/>
          </a:prstGeom>
          <a:noFill/>
          <a:ln/>
        </p:spPr>
        <p:txBody>
          <a:bodyPr wrap="square" lIns="0" tIns="0" rIns="0" bIns="0" rtlCol="0" anchor="ctr"/>
          <a:lstStyle/>
          <a:p>
            <a:pPr indent="0" marL="0">
              <a:buNone/>
            </a:pPr>
            <a:r>
              <a:rPr lang="en-US" sz="1150" dirty="0">
                <a:solidFill>
                  <a:srgbClr val="3A4357"/>
                </a:solidFill>
                <a:latin typeface="Calibri" pitchFamily="34" charset="0"/>
                <a:ea typeface="Calibri" pitchFamily="34" charset="-122"/>
                <a:cs typeface="Calibri" pitchFamily="34" charset="-120"/>
              </a:rPr>
              <a:t>contribution can be isolated rather than assumed.</a:t>
            </a:r>
            <a:endParaRPr lang="en-US" sz="1150" dirty="0"/>
          </a:p>
        </p:txBody>
      </p:sp>
      <p:sp>
        <p:nvSpPr>
          <p:cNvPr id="12" name="Text 10"/>
          <p:cNvSpPr txBox="1"/>
          <p:nvPr/>
        </p:nvSpPr>
        <p:spPr>
          <a:xfrm>
            <a:off x="4709160" y="987552"/>
            <a:ext cx="38862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each layer adds</a:t>
            </a:r>
            <a:endParaRPr lang="en-US" sz="1300" dirty="0"/>
          </a:p>
        </p:txBody>
      </p:sp>
      <p:sp>
        <p:nvSpPr>
          <p:cNvPr id="13" name="Shape 11"/>
          <p:cNvSpPr/>
          <p:nvPr/>
        </p:nvSpPr>
        <p:spPr>
          <a:xfrm>
            <a:off x="4709160" y="1417320"/>
            <a:ext cx="1554480" cy="457200"/>
          </a:xfrm>
          <a:prstGeom prst="roundRect">
            <a:avLst>
              <a:gd name="adj" fmla="val 12000"/>
            </a:avLst>
          </a:prstGeom>
          <a:solidFill>
            <a:srgbClr val="8A94A6"/>
          </a:solidFill>
          <a:ln/>
        </p:spPr>
      </p:sp>
      <p:sp>
        <p:nvSpPr>
          <p:cNvPr id="14" name="Text 12"/>
          <p:cNvSpPr txBox="1"/>
          <p:nvPr/>
        </p:nvSpPr>
        <p:spPr>
          <a:xfrm>
            <a:off x="4846320" y="1417320"/>
            <a:ext cx="374904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Buy and hold</a:t>
            </a:r>
            <a:endParaRPr lang="en-US" sz="1150" dirty="0"/>
          </a:p>
        </p:txBody>
      </p:sp>
      <p:sp>
        <p:nvSpPr>
          <p:cNvPr id="15" name="Shape 13"/>
          <p:cNvSpPr/>
          <p:nvPr/>
        </p:nvSpPr>
        <p:spPr>
          <a:xfrm>
            <a:off x="4709160" y="2075688"/>
            <a:ext cx="2286000" cy="457200"/>
          </a:xfrm>
          <a:prstGeom prst="roundRect">
            <a:avLst>
              <a:gd name="adj" fmla="val 12000"/>
            </a:avLst>
          </a:prstGeom>
          <a:solidFill>
            <a:srgbClr val="1E2761"/>
          </a:solidFill>
          <a:ln/>
        </p:spPr>
      </p:sp>
      <p:sp>
        <p:nvSpPr>
          <p:cNvPr id="16" name="Text 14"/>
          <p:cNvSpPr txBox="1"/>
          <p:nvPr/>
        </p:nvSpPr>
        <p:spPr>
          <a:xfrm>
            <a:off x="4846320" y="2075688"/>
            <a:ext cx="448056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 rule alone</a:t>
            </a:r>
            <a:endParaRPr lang="en-US" sz="1150" dirty="0"/>
          </a:p>
        </p:txBody>
      </p:sp>
      <p:sp>
        <p:nvSpPr>
          <p:cNvPr id="17" name="Shape 15"/>
          <p:cNvSpPr/>
          <p:nvPr/>
        </p:nvSpPr>
        <p:spPr>
          <a:xfrm>
            <a:off x="4709160" y="2734056"/>
            <a:ext cx="3017520" cy="457200"/>
          </a:xfrm>
          <a:prstGeom prst="roundRect">
            <a:avLst>
              <a:gd name="adj" fmla="val 12000"/>
            </a:avLst>
          </a:prstGeom>
          <a:solidFill>
            <a:srgbClr val="1E2761"/>
          </a:solidFill>
          <a:ln/>
        </p:spPr>
      </p:sp>
      <p:sp>
        <p:nvSpPr>
          <p:cNvPr id="18" name="Text 16"/>
          <p:cNvSpPr txBox="1"/>
          <p:nvPr/>
        </p:nvSpPr>
        <p:spPr>
          <a:xfrm>
            <a:off x="4846320" y="2734056"/>
            <a:ext cx="521208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 market-condition AI</a:t>
            </a:r>
            <a:endParaRPr lang="en-US" sz="1150" dirty="0"/>
          </a:p>
        </p:txBody>
      </p:sp>
      <p:sp>
        <p:nvSpPr>
          <p:cNvPr id="19" name="Shape 17"/>
          <p:cNvSpPr/>
          <p:nvPr/>
        </p:nvSpPr>
        <p:spPr>
          <a:xfrm>
            <a:off x="4709160" y="3392424"/>
            <a:ext cx="3749040" cy="457200"/>
          </a:xfrm>
          <a:prstGeom prst="roundRect">
            <a:avLst>
              <a:gd name="adj" fmla="val 12000"/>
            </a:avLst>
          </a:prstGeom>
          <a:solidFill>
            <a:srgbClr val="F2A03D"/>
          </a:solidFill>
          <a:ln/>
        </p:spPr>
      </p:sp>
      <p:sp>
        <p:nvSpPr>
          <p:cNvPr id="20" name="Text 18"/>
          <p:cNvSpPr txBox="1"/>
          <p:nvPr/>
        </p:nvSpPr>
        <p:spPr>
          <a:xfrm>
            <a:off x="4846320" y="3392424"/>
            <a:ext cx="5943600" cy="457200"/>
          </a:xfrm>
          <a:prstGeom prst="rect">
            <a:avLst/>
          </a:prstGeom>
          <a:noFill/>
          <a:ln/>
        </p:spPr>
        <p:txBody>
          <a:bodyPr wrap="square" lIns="0" tIns="0" rIns="0" bIns="0" rtlCol="0" anchor="ctr"/>
          <a:lstStyle/>
          <a:p>
            <a:pPr indent="0" marL="0">
              <a:buNone/>
            </a:pPr>
            <a:r>
              <a:rPr lang="en-US" sz="1150" b="1" dirty="0">
                <a:solidFill>
                  <a:srgbClr val="141B44"/>
                </a:solidFill>
                <a:latin typeface="Calibri" pitchFamily="34" charset="0"/>
                <a:ea typeface="Calibri" pitchFamily="34" charset="-122"/>
                <a:cs typeface="Calibri" pitchFamily="34" charset="-120"/>
              </a:rPr>
              <a:t>+ signal-quality AI</a:t>
            </a:r>
            <a:endParaRPr lang="en-US" sz="1150" dirty="0"/>
          </a:p>
        </p:txBody>
      </p:sp>
      <p:sp>
        <p:nvSpPr>
          <p:cNvPr id="21" name="Text 19"/>
          <p:cNvSpPr txBox="1"/>
          <p:nvPr/>
        </p:nvSpPr>
        <p:spPr>
          <a:xfrm>
            <a:off x="4709160" y="4114800"/>
            <a:ext cx="3886200" cy="457200"/>
          </a:xfrm>
          <a:prstGeom prst="rect">
            <a:avLst/>
          </a:prstGeom>
          <a:noFill/>
          <a:ln/>
        </p:spPr>
        <p:txBody>
          <a:bodyPr wrap="square" lIns="0" tIns="0" rIns="0" bIns="0" rtlCol="0" anchor="ctr"/>
          <a:lstStyle/>
          <a:p>
            <a:pPr indent="0" marL="0">
              <a:lnSpc>
                <a:spcPts val="1400"/>
              </a:lnSpc>
              <a:buNone/>
            </a:pPr>
            <a:r>
              <a:rPr lang="en-US" sz="1050" i="1" dirty="0">
                <a:solidFill>
                  <a:srgbClr val="8A94A6"/>
                </a:solidFill>
                <a:latin typeface="Calibri" pitchFamily="34" charset="0"/>
                <a:ea typeface="Calibri" pitchFamily="34" charset="-122"/>
                <a:cs typeface="Calibri" pitchFamily="34" charset="-120"/>
              </a:rPr>
              <a:t>Compared on unseen periods, never on data the models trained 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B44"/>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Scope, risk, and where it stands</a:t>
            </a:r>
            <a:endParaRPr lang="en-US" sz="3400" dirty="0"/>
          </a:p>
        </p:txBody>
      </p:sp>
      <p:sp>
        <p:nvSpPr>
          <p:cNvPr id="3" name="Shape 1"/>
          <p:cNvSpPr/>
          <p:nvPr/>
        </p:nvSpPr>
        <p:spPr>
          <a:xfrm>
            <a:off x="548640" y="1188720"/>
            <a:ext cx="310896" cy="310896"/>
          </a:xfrm>
          <a:prstGeom prst="ellipse">
            <a:avLst/>
          </a:prstGeom>
          <a:solidFill>
            <a:srgbClr val="1E2761"/>
          </a:solidFill>
          <a:ln/>
        </p:spPr>
      </p:sp>
      <p:sp>
        <p:nvSpPr>
          <p:cNvPr id="4" name="Text 2"/>
          <p:cNvSpPr txBox="1"/>
          <p:nvPr/>
        </p:nvSpPr>
        <p:spPr>
          <a:xfrm>
            <a:off x="548640" y="1188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 name="Text 3"/>
          <p:cNvSpPr txBox="1"/>
          <p:nvPr/>
        </p:nvSpPr>
        <p:spPr>
          <a:xfrm>
            <a:off x="548640" y="1627632"/>
            <a:ext cx="24688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ships for certain</a:t>
            </a:r>
            <a:endParaRPr lang="en-US" sz="1500" dirty="0"/>
          </a:p>
        </p:txBody>
      </p:sp>
      <p:sp>
        <p:nvSpPr>
          <p:cNvPr id="6" name="Text 4"/>
          <p:cNvSpPr txBox="1"/>
          <p:nvPr/>
        </p:nvSpPr>
        <p:spPr>
          <a:xfrm>
            <a:off x="548640" y="2029968"/>
            <a:ext cx="2468880" cy="2011680"/>
          </a:xfrm>
          <a:prstGeom prst="rect">
            <a:avLst/>
          </a:prstGeom>
          <a:noFill/>
          <a:ln/>
        </p:spPr>
        <p:txBody>
          <a:bodyPr wrap="square" lIns="0" tIns="0" rIns="0" bIns="0" rtlCol="0" anchor="ctr"/>
          <a:lstStyle/>
          <a:p>
            <a:pPr marL="177800" indent="-177800">
              <a:lnSpc>
                <a:spcPts val="15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Data pipeline and evaluation harness</a:t>
            </a:r>
            <a:endParaRPr lang="en-US" sz="1150" dirty="0"/>
          </a:p>
          <a:p>
            <a:pPr marL="177800" indent="-177800">
              <a:lnSpc>
                <a:spcPts val="15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One strategy, fully tested</a:t>
            </a:r>
            <a:endParaRPr lang="en-US" sz="1150" dirty="0"/>
          </a:p>
          <a:p>
            <a:pPr marL="177800" indent="-177800">
              <a:lnSpc>
                <a:spcPts val="15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Two AI filters, measured separately</a:t>
            </a:r>
            <a:endParaRPr lang="en-US" sz="1150" dirty="0"/>
          </a:p>
          <a:p>
            <a:pPr marL="177800" indent="-177800">
              <a:lnSpc>
                <a:spcPts val="15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Live paper trading and a dashboard</a:t>
            </a:r>
            <a:endParaRPr lang="en-US" sz="1150" dirty="0"/>
          </a:p>
          <a:p>
            <a:pPr marL="177800" indent="-177800">
              <a:lnSpc>
                <a:spcPts val="15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Explanations and failure analysis</a:t>
            </a:r>
            <a:endParaRPr lang="en-US" sz="1150" dirty="0"/>
          </a:p>
        </p:txBody>
      </p:sp>
      <p:sp>
        <p:nvSpPr>
          <p:cNvPr id="7" name="Shape 5"/>
          <p:cNvSpPr/>
          <p:nvPr/>
        </p:nvSpPr>
        <p:spPr>
          <a:xfrm>
            <a:off x="3291840" y="1188720"/>
            <a:ext cx="310896" cy="310896"/>
          </a:xfrm>
          <a:prstGeom prst="ellipse">
            <a:avLst/>
          </a:prstGeom>
          <a:solidFill>
            <a:srgbClr val="F2A03D"/>
          </a:solidFill>
          <a:ln/>
        </p:spPr>
      </p:sp>
      <p:sp>
        <p:nvSpPr>
          <p:cNvPr id="8" name="Text 6"/>
          <p:cNvSpPr txBox="1"/>
          <p:nvPr/>
        </p:nvSpPr>
        <p:spPr>
          <a:xfrm>
            <a:off x="3291840" y="1188720"/>
            <a:ext cx="310896" cy="310896"/>
          </a:xfrm>
          <a:prstGeom prst="rect">
            <a:avLst/>
          </a:prstGeom>
          <a:noFill/>
          <a:ln/>
        </p:spPr>
        <p:txBody>
          <a:bodyPr wrap="square" lIns="0" tIns="0" rIns="0" bIns="0" rtlCol="0" anchor="ctr"/>
          <a:lstStyle/>
          <a:p>
            <a:pPr algn="ctr" indent="0" marL="0">
              <a:buNone/>
            </a:pPr>
            <a:r>
              <a:rPr lang="en-US" sz="1200" b="1" dirty="0">
                <a:solidFill>
                  <a:srgbClr val="141B44"/>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3291840" y="1627632"/>
            <a:ext cx="2468880" cy="320040"/>
          </a:xfrm>
          <a:prstGeom prst="rect">
            <a:avLst/>
          </a:prstGeom>
          <a:noFill/>
          <a:ln/>
        </p:spPr>
        <p:txBody>
          <a:bodyPr wrap="square" lIns="0" tIns="0" rIns="0" bIns="0" rtlCol="0" anchor="ctr"/>
          <a:lstStyle/>
          <a:p>
            <a:pPr indent="0" marL="0">
              <a:buNone/>
            </a:pPr>
            <a:r>
              <a:rPr lang="en-US" sz="1500" b="1" dirty="0">
                <a:solidFill>
                  <a:srgbClr val="F2A03D"/>
                </a:solidFill>
                <a:latin typeface="Calibri" pitchFamily="34" charset="0"/>
                <a:ea typeface="Calibri" pitchFamily="34" charset="-122"/>
                <a:cs typeface="Calibri" pitchFamily="34" charset="-120"/>
              </a:rPr>
              <a:t>The one real risk</a:t>
            </a:r>
            <a:endParaRPr lang="en-US" sz="1500" dirty="0"/>
          </a:p>
        </p:txBody>
      </p:sp>
      <p:sp>
        <p:nvSpPr>
          <p:cNvPr id="10" name="Text 8"/>
          <p:cNvSpPr txBox="1"/>
          <p:nvPr/>
        </p:nvSpPr>
        <p:spPr>
          <a:xfrm>
            <a:off x="3291840" y="2029968"/>
            <a:ext cx="2468880" cy="2011680"/>
          </a:xfrm>
          <a:prstGeom prst="rect">
            <a:avLst/>
          </a:prstGeom>
          <a:noFill/>
          <a:ln/>
        </p:spPr>
        <p:txBody>
          <a:bodyPr wrap="square" lIns="0" tIns="0" rIns="0" bIns="0" rtlCol="0" anchor="ctr"/>
          <a:lstStyle/>
          <a:p>
            <a:pPr indent="0" marL="0">
              <a:lnSpc>
                <a:spcPts val="1500"/>
              </a:lnSpc>
              <a:spcAft>
                <a:spcPts val="600"/>
              </a:spcAft>
              <a:buNone/>
            </a:pPr>
            <a:r>
              <a:rPr lang="en-US" sz="1150" dirty="0">
                <a:solidFill>
                  <a:srgbClr val="CADCFC"/>
                </a:solidFill>
                <a:latin typeface="Calibri" pitchFamily="34" charset="0"/>
                <a:ea typeface="Calibri" pitchFamily="34" charset="-122"/>
                <a:cs typeface="Calibri" pitchFamily="34" charset="-120"/>
              </a:rPr>
              <a:t>Getting several years of fine-grained price history at usable quality.</a:t>
            </a:r>
            <a:endParaRPr lang="en-US" sz="1150" dirty="0"/>
          </a:p>
          <a:p>
            <a:pPr indent="0" marL="0">
              <a:lnSpc>
                <a:spcPts val="1500"/>
              </a:lnSpc>
              <a:spcAft>
                <a:spcPts val="600"/>
              </a:spcAft>
              <a:buNone/>
            </a:pPr>
            <a:r>
              <a:rPr lang="en-US" sz="1150" dirty="0">
                <a:solidFill>
                  <a:srgbClr val="CADCFC"/>
                </a:solidFill>
                <a:latin typeface="Calibri" pitchFamily="34" charset="0"/>
                <a:ea typeface="Calibri" pitchFamily="34" charset="-122"/>
                <a:cs typeface="Calibri" pitchFamily="34" charset="-120"/>
              </a:rPr>
              <a:t>Fallback already priced and approved — and if neither works, the system moves to slower bars. The method survives either way.</a:t>
            </a:r>
            <a:endParaRPr lang="en-US" sz="1150" dirty="0"/>
          </a:p>
        </p:txBody>
      </p:sp>
      <p:sp>
        <p:nvSpPr>
          <p:cNvPr id="11" name="Shape 9"/>
          <p:cNvSpPr/>
          <p:nvPr/>
        </p:nvSpPr>
        <p:spPr>
          <a:xfrm>
            <a:off x="6035040" y="1188720"/>
            <a:ext cx="310896" cy="310896"/>
          </a:xfrm>
          <a:prstGeom prst="ellipse">
            <a:avLst/>
          </a:prstGeom>
          <a:solidFill>
            <a:srgbClr val="1E2761"/>
          </a:solidFill>
          <a:ln/>
        </p:spPr>
      </p:sp>
      <p:sp>
        <p:nvSpPr>
          <p:cNvPr id="12" name="Text 10"/>
          <p:cNvSpPr txBox="1"/>
          <p:nvPr/>
        </p:nvSpPr>
        <p:spPr>
          <a:xfrm>
            <a:off x="6035040" y="1188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txBox="1"/>
          <p:nvPr/>
        </p:nvSpPr>
        <p:spPr>
          <a:xfrm>
            <a:off x="6035040" y="1627632"/>
            <a:ext cx="24688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Where it stands</a:t>
            </a:r>
            <a:endParaRPr lang="en-US" sz="1500" dirty="0"/>
          </a:p>
        </p:txBody>
      </p:sp>
      <p:sp>
        <p:nvSpPr>
          <p:cNvPr id="14" name="Text 12"/>
          <p:cNvSpPr txBox="1"/>
          <p:nvPr/>
        </p:nvSpPr>
        <p:spPr>
          <a:xfrm>
            <a:off x="6035040" y="2029968"/>
            <a:ext cx="2468880" cy="2011680"/>
          </a:xfrm>
          <a:prstGeom prst="rect">
            <a:avLst/>
          </a:prstGeom>
          <a:noFill/>
          <a:ln/>
        </p:spPr>
        <p:txBody>
          <a:bodyPr wrap="square" lIns="0" tIns="0" rIns="0" bIns="0" rtlCol="0" anchor="ctr"/>
          <a:lstStyle/>
          <a:p>
            <a:pPr marL="177800" indent="-177800">
              <a:lnSpc>
                <a:spcPts val="15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Week 1 of 14</a:t>
            </a:r>
            <a:endParaRPr lang="en-US" sz="1150" dirty="0"/>
          </a:p>
          <a:p>
            <a:pPr marL="177800" indent="-177800">
              <a:lnSpc>
                <a:spcPts val="15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Scope, evaluation plan and safety review written</a:t>
            </a:r>
            <a:endParaRPr lang="en-US" sz="1150" dirty="0"/>
          </a:p>
          <a:p>
            <a:pPr marL="177800" indent="-177800">
              <a:lnSpc>
                <a:spcPts val="15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Repository and data verification in progress</a:t>
            </a:r>
            <a:endParaRPr lang="en-US" sz="1150" dirty="0"/>
          </a:p>
          <a:p>
            <a:pPr marL="177800" indent="-177800">
              <a:lnSpc>
                <a:spcPts val="150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First working prototype due week 5</a:t>
            </a:r>
            <a:endParaRPr lang="en-US" sz="1150" dirty="0"/>
          </a:p>
        </p:txBody>
      </p:sp>
      <p:sp>
        <p:nvSpPr>
          <p:cNvPr id="15" name="Text 13"/>
          <p:cNvSpPr txBox="1"/>
          <p:nvPr/>
        </p:nvSpPr>
        <p:spPr>
          <a:xfrm>
            <a:off x="548640" y="4434840"/>
            <a:ext cx="8046720" cy="32004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Paper trading only. Not investment advice. No real money is at risk at any point.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BETA — Product Demo</dc:title>
  <dc:subject>PptxGenJS Presentation</dc:subject>
  <dc:creator>Henry Dao</dc:creator>
  <cp:lastModifiedBy>Henry Dao</cp:lastModifiedBy>
  <cp:revision>1</cp:revision>
  <dcterms:created xsi:type="dcterms:W3CDTF">2026-08-30T22:18:21Z</dcterms:created>
  <dcterms:modified xsi:type="dcterms:W3CDTF">2026-08-30T22:18:21Z</dcterms:modified>
</cp:coreProperties>
</file>